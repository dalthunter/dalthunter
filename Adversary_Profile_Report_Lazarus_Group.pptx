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handoutMasterIdLst>
    <p:handoutMasterId r:id="rId15"/>
  </p:handoutMasterIdLst>
  <p:sldIdLst>
    <p:sldId id="256" r:id="rId5"/>
    <p:sldId id="272" r:id="rId6"/>
    <p:sldId id="320" r:id="rId7"/>
    <p:sldId id="326" r:id="rId8"/>
    <p:sldId id="321" r:id="rId9"/>
    <p:sldId id="325" r:id="rId10"/>
    <p:sldId id="322" r:id="rId11"/>
    <p:sldId id="327" r:id="rId12"/>
    <p:sldId id="299" r:id="rId13"/>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4666EF"/>
    <a:srgbClr val="4493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751B60-926D-46CF-A0AC-9D733F7E4C13}" v="10" dt="2026-05-06T20:08:51.1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238" autoAdjust="0"/>
    <p:restoredTop sz="94660"/>
  </p:normalViewPr>
  <p:slideViewPr>
    <p:cSldViewPr snapToGrid="0">
      <p:cViewPr varScale="1">
        <p:scale>
          <a:sx n="160" d="100"/>
          <a:sy n="160" d="100"/>
        </p:scale>
        <p:origin x="150" y="174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9" d="100"/>
          <a:sy n="69" d="100"/>
        </p:scale>
        <p:origin x="2700"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lton Hunter" userId="c67cf935-d0bb-4aef-b0f8-ded619c5a8b2" providerId="ADAL" clId="{03B7EC64-BECD-4824-9763-34B20A93C649}"/>
    <pc:docChg chg="undo redo custSel addSld delSld modSld sldOrd modMainMaster">
      <pc:chgData name="Dalton Hunter" userId="c67cf935-d0bb-4aef-b0f8-ded619c5a8b2" providerId="ADAL" clId="{03B7EC64-BECD-4824-9763-34B20A93C649}" dt="2026-05-06T20:08:51.150" v="11154"/>
      <pc:docMkLst>
        <pc:docMk/>
      </pc:docMkLst>
      <pc:sldChg chg="addSp delSp modSp add del mod ord">
        <pc:chgData name="Dalton Hunter" userId="c67cf935-d0bb-4aef-b0f8-ded619c5a8b2" providerId="ADAL" clId="{03B7EC64-BECD-4824-9763-34B20A93C649}" dt="2026-04-25T20:52:00.510" v="10534"/>
        <pc:sldMkLst>
          <pc:docMk/>
          <pc:sldMk cId="2066099785" sldId="256"/>
        </pc:sldMkLst>
        <pc:spChg chg="add mod">
          <ac:chgData name="Dalton Hunter" userId="c67cf935-d0bb-4aef-b0f8-ded619c5a8b2" providerId="ADAL" clId="{03B7EC64-BECD-4824-9763-34B20A93C649}" dt="2026-04-25T20:52:00.510" v="10534"/>
          <ac:spMkLst>
            <pc:docMk/>
            <pc:sldMk cId="2066099785" sldId="256"/>
            <ac:spMk id="9" creationId="{1369F3B4-AE1F-F084-40B4-D1B7AE940943}"/>
          </ac:spMkLst>
        </pc:spChg>
        <pc:cxnChg chg="add mod">
          <ac:chgData name="Dalton Hunter" userId="c67cf935-d0bb-4aef-b0f8-ded619c5a8b2" providerId="ADAL" clId="{03B7EC64-BECD-4824-9763-34B20A93C649}" dt="2026-04-23T02:36:52.402" v="9696" actId="1076"/>
          <ac:cxnSpMkLst>
            <pc:docMk/>
            <pc:sldMk cId="2066099785" sldId="256"/>
            <ac:cxnSpMk id="5" creationId="{E2479117-3E6C-9678-EB49-0829AAEFE4E6}"/>
          </ac:cxnSpMkLst>
        </pc:cxnChg>
        <pc:cxnChg chg="add mod">
          <ac:chgData name="Dalton Hunter" userId="c67cf935-d0bb-4aef-b0f8-ded619c5a8b2" providerId="ADAL" clId="{03B7EC64-BECD-4824-9763-34B20A93C649}" dt="2026-04-22T23:02:05.964" v="9463" actId="208"/>
          <ac:cxnSpMkLst>
            <pc:docMk/>
            <pc:sldMk cId="2066099785" sldId="256"/>
            <ac:cxnSpMk id="12" creationId="{9B163965-1BB4-0D6E-931C-E5931483F55A}"/>
          </ac:cxnSpMkLst>
        </pc:cxnChg>
        <pc:cxnChg chg="add mod">
          <ac:chgData name="Dalton Hunter" userId="c67cf935-d0bb-4aef-b0f8-ded619c5a8b2" providerId="ADAL" clId="{03B7EC64-BECD-4824-9763-34B20A93C649}" dt="2026-04-22T23:07:49.784" v="9488" actId="14100"/>
          <ac:cxnSpMkLst>
            <pc:docMk/>
            <pc:sldMk cId="2066099785" sldId="256"/>
            <ac:cxnSpMk id="13" creationId="{540EC481-5EE7-2B3B-3D58-B6770C285BAF}"/>
          </ac:cxnSpMkLst>
        </pc:cxnChg>
        <pc:cxnChg chg="add mod">
          <ac:chgData name="Dalton Hunter" userId="c67cf935-d0bb-4aef-b0f8-ded619c5a8b2" providerId="ADAL" clId="{03B7EC64-BECD-4824-9763-34B20A93C649}" dt="2026-04-22T23:07:16.279" v="9485" actId="1076"/>
          <ac:cxnSpMkLst>
            <pc:docMk/>
            <pc:sldMk cId="2066099785" sldId="256"/>
            <ac:cxnSpMk id="25" creationId="{FC70E055-3F8E-928B-B585-2653D7A6CEDA}"/>
          </ac:cxnSpMkLst>
        </pc:cxnChg>
        <pc:cxnChg chg="add mod">
          <ac:chgData name="Dalton Hunter" userId="c67cf935-d0bb-4aef-b0f8-ded619c5a8b2" providerId="ADAL" clId="{03B7EC64-BECD-4824-9763-34B20A93C649}" dt="2026-04-22T23:05:04.525" v="9481" actId="1076"/>
          <ac:cxnSpMkLst>
            <pc:docMk/>
            <pc:sldMk cId="2066099785" sldId="256"/>
            <ac:cxnSpMk id="30" creationId="{01C4DD43-60F6-BEE0-E836-DFD1E7B7CE73}"/>
          </ac:cxnSpMkLst>
        </pc:cxnChg>
      </pc:sldChg>
      <pc:sldChg chg="addSp delSp modSp mod">
        <pc:chgData name="Dalton Hunter" userId="c67cf935-d0bb-4aef-b0f8-ded619c5a8b2" providerId="ADAL" clId="{03B7EC64-BECD-4824-9763-34B20A93C649}" dt="2026-05-06T20:08:51.150" v="11154"/>
        <pc:sldMkLst>
          <pc:docMk/>
          <pc:sldMk cId="624131162" sldId="272"/>
        </pc:sldMkLst>
        <pc:spChg chg="add mod">
          <ac:chgData name="Dalton Hunter" userId="c67cf935-d0bb-4aef-b0f8-ded619c5a8b2" providerId="ADAL" clId="{03B7EC64-BECD-4824-9763-34B20A93C649}" dt="2026-05-06T20:07:56.010" v="11135" actId="1076"/>
          <ac:spMkLst>
            <pc:docMk/>
            <pc:sldMk cId="624131162" sldId="272"/>
            <ac:spMk id="2" creationId="{32A2BA3A-9FA1-E24E-AEA6-9E6501B67C69}"/>
          </ac:spMkLst>
        </pc:spChg>
        <pc:spChg chg="add del mod">
          <ac:chgData name="Dalton Hunter" userId="c67cf935-d0bb-4aef-b0f8-ded619c5a8b2" providerId="ADAL" clId="{03B7EC64-BECD-4824-9763-34B20A93C649}" dt="2026-05-06T20:08:49.331" v="11152" actId="478"/>
          <ac:spMkLst>
            <pc:docMk/>
            <pc:sldMk cId="624131162" sldId="272"/>
            <ac:spMk id="3" creationId="{01573121-8D5F-07F9-1B37-B8DCD99DA203}"/>
          </ac:spMkLst>
        </pc:spChg>
        <pc:spChg chg="add mod">
          <ac:chgData name="Dalton Hunter" userId="c67cf935-d0bb-4aef-b0f8-ded619c5a8b2" providerId="ADAL" clId="{03B7EC64-BECD-4824-9763-34B20A93C649}" dt="2026-04-22T00:48:17.994" v="7533" actId="20577"/>
          <ac:spMkLst>
            <pc:docMk/>
            <pc:sldMk cId="624131162" sldId="272"/>
            <ac:spMk id="4" creationId="{B328B62A-0635-3456-4EB3-21F55BCFDDAE}"/>
          </ac:spMkLst>
        </pc:spChg>
        <pc:spChg chg="mod">
          <ac:chgData name="Dalton Hunter" userId="c67cf935-d0bb-4aef-b0f8-ded619c5a8b2" providerId="ADAL" clId="{03B7EC64-BECD-4824-9763-34B20A93C649}" dt="2026-04-25T19:08:21.827" v="10529" actId="20577"/>
          <ac:spMkLst>
            <pc:docMk/>
            <pc:sldMk cId="624131162" sldId="272"/>
            <ac:spMk id="5" creationId="{D51B56FE-B144-A837-26F9-50B3237E4F0C}"/>
          </ac:spMkLst>
        </pc:spChg>
        <pc:spChg chg="add mod">
          <ac:chgData name="Dalton Hunter" userId="c67cf935-d0bb-4aef-b0f8-ded619c5a8b2" providerId="ADAL" clId="{03B7EC64-BECD-4824-9763-34B20A93C649}" dt="2026-04-21T23:32:21.583" v="7272" actId="207"/>
          <ac:spMkLst>
            <pc:docMk/>
            <pc:sldMk cId="624131162" sldId="272"/>
            <ac:spMk id="6" creationId="{3E139B42-013D-B8FB-0B3F-5E2674CA013D}"/>
          </ac:spMkLst>
        </pc:spChg>
        <pc:spChg chg="add mod">
          <ac:chgData name="Dalton Hunter" userId="c67cf935-d0bb-4aef-b0f8-ded619c5a8b2" providerId="ADAL" clId="{03B7EC64-BECD-4824-9763-34B20A93C649}" dt="2026-04-25T20:52:37.465" v="10538"/>
          <ac:spMkLst>
            <pc:docMk/>
            <pc:sldMk cId="624131162" sldId="272"/>
            <ac:spMk id="7" creationId="{477856B4-BC7D-F655-072D-362921479097}"/>
          </ac:spMkLst>
        </pc:spChg>
        <pc:spChg chg="add mod">
          <ac:chgData name="Dalton Hunter" userId="c67cf935-d0bb-4aef-b0f8-ded619c5a8b2" providerId="ADAL" clId="{03B7EC64-BECD-4824-9763-34B20A93C649}" dt="2026-05-06T20:08:51.150" v="11154"/>
          <ac:spMkLst>
            <pc:docMk/>
            <pc:sldMk cId="624131162" sldId="272"/>
            <ac:spMk id="8" creationId="{6890BBD6-8F55-9B6B-B1C2-D3D1B849C224}"/>
          </ac:spMkLst>
        </pc:spChg>
        <pc:spChg chg="add del mod">
          <ac:chgData name="Dalton Hunter" userId="c67cf935-d0bb-4aef-b0f8-ded619c5a8b2" providerId="ADAL" clId="{03B7EC64-BECD-4824-9763-34B20A93C649}" dt="2026-05-06T20:08:49.952" v="11153" actId="478"/>
          <ac:spMkLst>
            <pc:docMk/>
            <pc:sldMk cId="624131162" sldId="272"/>
            <ac:spMk id="9" creationId="{AC2CB77B-EB5E-3981-A576-BDB00B0FAEBB}"/>
          </ac:spMkLst>
        </pc:spChg>
        <pc:spChg chg="mod">
          <ac:chgData name="Dalton Hunter" userId="c67cf935-d0bb-4aef-b0f8-ded619c5a8b2" providerId="ADAL" clId="{03B7EC64-BECD-4824-9763-34B20A93C649}" dt="2026-04-25T05:31:47.502" v="10360"/>
          <ac:spMkLst>
            <pc:docMk/>
            <pc:sldMk cId="624131162" sldId="272"/>
            <ac:spMk id="10" creationId="{0F205AF5-089C-CDFC-2799-0F00EB7B08D3}"/>
          </ac:spMkLst>
        </pc:spChg>
        <pc:spChg chg="mod">
          <ac:chgData name="Dalton Hunter" userId="c67cf935-d0bb-4aef-b0f8-ded619c5a8b2" providerId="ADAL" clId="{03B7EC64-BECD-4824-9763-34B20A93C649}" dt="2026-04-25T05:30:02.324" v="10357" actId="2711"/>
          <ac:spMkLst>
            <pc:docMk/>
            <pc:sldMk cId="624131162" sldId="272"/>
            <ac:spMk id="11" creationId="{00CF53A5-57CE-13DC-5FC6-62A7E07FFEBC}"/>
          </ac:spMkLst>
        </pc:spChg>
        <pc:spChg chg="add del mod">
          <ac:chgData name="Dalton Hunter" userId="c67cf935-d0bb-4aef-b0f8-ded619c5a8b2" providerId="ADAL" clId="{03B7EC64-BECD-4824-9763-34B20A93C649}" dt="2026-05-06T20:07:26.189" v="11131" actId="478"/>
          <ac:spMkLst>
            <pc:docMk/>
            <pc:sldMk cId="624131162" sldId="272"/>
            <ac:spMk id="12" creationId="{BB9B1819-1CEB-6D11-AA33-60B00FF691A6}"/>
          </ac:spMkLst>
        </pc:spChg>
        <pc:spChg chg="add mod">
          <ac:chgData name="Dalton Hunter" userId="c67cf935-d0bb-4aef-b0f8-ded619c5a8b2" providerId="ADAL" clId="{03B7EC64-BECD-4824-9763-34B20A93C649}" dt="2026-04-22T01:23:04.294" v="7778"/>
          <ac:spMkLst>
            <pc:docMk/>
            <pc:sldMk cId="624131162" sldId="272"/>
            <ac:spMk id="13" creationId="{0DEBFF1E-256A-FCC5-8F58-913F824D5E0C}"/>
          </ac:spMkLst>
        </pc:spChg>
      </pc:sldChg>
      <pc:sldChg chg="addSp delSp modSp mod">
        <pc:chgData name="Dalton Hunter" userId="c67cf935-d0bb-4aef-b0f8-ded619c5a8b2" providerId="ADAL" clId="{03B7EC64-BECD-4824-9763-34B20A93C649}" dt="2026-05-06T20:08:33.673" v="11150"/>
        <pc:sldMkLst>
          <pc:docMk/>
          <pc:sldMk cId="2332698707" sldId="299"/>
        </pc:sldMkLst>
        <pc:spChg chg="mod">
          <ac:chgData name="Dalton Hunter" userId="c67cf935-d0bb-4aef-b0f8-ded619c5a8b2" providerId="ADAL" clId="{03B7EC64-BECD-4824-9763-34B20A93C649}" dt="2026-04-25T20:52:00.510" v="10534"/>
          <ac:spMkLst>
            <pc:docMk/>
            <pc:sldMk cId="2332698707" sldId="299"/>
            <ac:spMk id="2" creationId="{AB92F8A8-8777-8EF7-29B3-ECCCB5961E99}"/>
          </ac:spMkLst>
        </pc:spChg>
        <pc:spChg chg="add mod">
          <ac:chgData name="Dalton Hunter" userId="c67cf935-d0bb-4aef-b0f8-ded619c5a8b2" providerId="ADAL" clId="{03B7EC64-BECD-4824-9763-34B20A93C649}" dt="2026-05-06T20:08:33.673" v="11150"/>
          <ac:spMkLst>
            <pc:docMk/>
            <pc:sldMk cId="2332698707" sldId="299"/>
            <ac:spMk id="3" creationId="{158776D1-BEAD-1319-911F-1444480FAF48}"/>
          </ac:spMkLst>
        </pc:spChg>
        <pc:spChg chg="add mod">
          <ac:chgData name="Dalton Hunter" userId="c67cf935-d0bb-4aef-b0f8-ded619c5a8b2" providerId="ADAL" clId="{03B7EC64-BECD-4824-9763-34B20A93C649}" dt="2026-04-21T23:33:54.308" v="7285" actId="1076"/>
          <ac:spMkLst>
            <pc:docMk/>
            <pc:sldMk cId="2332698707" sldId="299"/>
            <ac:spMk id="6" creationId="{136E08C6-8AFE-C7F8-9DDF-2C3934E1A4F7}"/>
          </ac:spMkLst>
        </pc:spChg>
        <pc:spChg chg="mod">
          <ac:chgData name="Dalton Hunter" userId="c67cf935-d0bb-4aef-b0f8-ded619c5a8b2" providerId="ADAL" clId="{03B7EC64-BECD-4824-9763-34B20A93C649}" dt="2026-04-22T03:43:50.400" v="8260" actId="122"/>
          <ac:spMkLst>
            <pc:docMk/>
            <pc:sldMk cId="2332698707" sldId="299"/>
            <ac:spMk id="7" creationId="{E7523841-D415-42D1-9986-FFE01C0A70F9}"/>
          </ac:spMkLst>
        </pc:spChg>
        <pc:spChg chg="add mod">
          <ac:chgData name="Dalton Hunter" userId="c67cf935-d0bb-4aef-b0f8-ded619c5a8b2" providerId="ADAL" clId="{03B7EC64-BECD-4824-9763-34B20A93C649}" dt="2026-04-22T03:28:53.376" v="8238"/>
          <ac:spMkLst>
            <pc:docMk/>
            <pc:sldMk cId="2332698707" sldId="299"/>
            <ac:spMk id="8" creationId="{05ACCA75-2970-D26C-14CE-7D412DF14675}"/>
          </ac:spMkLst>
        </pc:spChg>
        <pc:spChg chg="mod">
          <ac:chgData name="Dalton Hunter" userId="c67cf935-d0bb-4aef-b0f8-ded619c5a8b2" providerId="ADAL" clId="{03B7EC64-BECD-4824-9763-34B20A93C649}" dt="2026-04-22T03:48:18.354" v="8275" actId="1076"/>
          <ac:spMkLst>
            <pc:docMk/>
            <pc:sldMk cId="2332698707" sldId="299"/>
            <ac:spMk id="9" creationId="{3299550D-CBED-4B26-A5B0-86E44E9CE4A2}"/>
          </ac:spMkLst>
        </pc:spChg>
        <pc:spChg chg="add del mod">
          <ac:chgData name="Dalton Hunter" userId="c67cf935-d0bb-4aef-b0f8-ded619c5a8b2" providerId="ADAL" clId="{03B7EC64-BECD-4824-9763-34B20A93C649}" dt="2026-05-06T20:08:33.322" v="11149" actId="478"/>
          <ac:spMkLst>
            <pc:docMk/>
            <pc:sldMk cId="2332698707" sldId="299"/>
            <ac:spMk id="10" creationId="{FC06414D-D491-3326-100D-A5F004C4B3EF}"/>
          </ac:spMkLst>
        </pc:spChg>
        <pc:spChg chg="add mod">
          <ac:chgData name="Dalton Hunter" userId="c67cf935-d0bb-4aef-b0f8-ded619c5a8b2" providerId="ADAL" clId="{03B7EC64-BECD-4824-9763-34B20A93C649}" dt="2026-04-22T01:09:43.842" v="7647"/>
          <ac:spMkLst>
            <pc:docMk/>
            <pc:sldMk cId="2332698707" sldId="299"/>
            <ac:spMk id="12" creationId="{70F4C8DB-836E-C7A8-7B39-F74CA3812BB2}"/>
          </ac:spMkLst>
        </pc:spChg>
        <pc:spChg chg="add mod">
          <ac:chgData name="Dalton Hunter" userId="c67cf935-d0bb-4aef-b0f8-ded619c5a8b2" providerId="ADAL" clId="{03B7EC64-BECD-4824-9763-34B20A93C649}" dt="2026-04-22T00:48:03.347" v="7527" actId="20577"/>
          <ac:spMkLst>
            <pc:docMk/>
            <pc:sldMk cId="2332698707" sldId="299"/>
            <ac:spMk id="13" creationId="{3079118A-3FFA-6C51-7DAD-CA379A4E4845}"/>
          </ac:spMkLst>
        </pc:spChg>
      </pc:sldChg>
      <pc:sldChg chg="addSp delSp modSp mod">
        <pc:chgData name="Dalton Hunter" userId="c67cf935-d0bb-4aef-b0f8-ded619c5a8b2" providerId="ADAL" clId="{03B7EC64-BECD-4824-9763-34B20A93C649}" dt="2026-05-06T20:08:11.241" v="11138"/>
        <pc:sldMkLst>
          <pc:docMk/>
          <pc:sldMk cId="3271110637" sldId="320"/>
        </pc:sldMkLst>
        <pc:spChg chg="add mod">
          <ac:chgData name="Dalton Hunter" userId="c67cf935-d0bb-4aef-b0f8-ded619c5a8b2" providerId="ADAL" clId="{03B7EC64-BECD-4824-9763-34B20A93C649}" dt="2026-05-06T20:08:11.241" v="11138"/>
          <ac:spMkLst>
            <pc:docMk/>
            <pc:sldMk cId="3271110637" sldId="320"/>
            <ac:spMk id="2" creationId="{55FAE3EA-B699-7AEA-4178-293CF34A1379}"/>
          </ac:spMkLst>
        </pc:spChg>
        <pc:spChg chg="add del mod">
          <ac:chgData name="Dalton Hunter" userId="c67cf935-d0bb-4aef-b0f8-ded619c5a8b2" providerId="ADAL" clId="{03B7EC64-BECD-4824-9763-34B20A93C649}" dt="2026-04-25T23:31:38.773" v="11067" actId="1076"/>
          <ac:spMkLst>
            <pc:docMk/>
            <pc:sldMk cId="3271110637" sldId="320"/>
            <ac:spMk id="3" creationId="{BE720464-CEE0-1E86-2401-2CC8413FE47D}"/>
          </ac:spMkLst>
        </pc:spChg>
        <pc:spChg chg="add mod">
          <ac:chgData name="Dalton Hunter" userId="c67cf935-d0bb-4aef-b0f8-ded619c5a8b2" providerId="ADAL" clId="{03B7EC64-BECD-4824-9763-34B20A93C649}" dt="2026-04-21T23:32:30.779" v="7274" actId="1076"/>
          <ac:spMkLst>
            <pc:docMk/>
            <pc:sldMk cId="3271110637" sldId="320"/>
            <ac:spMk id="4" creationId="{C705D605-7ADD-4B02-E8FC-074D20C4CFF4}"/>
          </ac:spMkLst>
        </pc:spChg>
        <pc:spChg chg="add del mod">
          <ac:chgData name="Dalton Hunter" userId="c67cf935-d0bb-4aef-b0f8-ded619c5a8b2" providerId="ADAL" clId="{03B7EC64-BECD-4824-9763-34B20A93C649}" dt="2026-05-06T20:08:10.683" v="11137" actId="478"/>
          <ac:spMkLst>
            <pc:docMk/>
            <pc:sldMk cId="3271110637" sldId="320"/>
            <ac:spMk id="5" creationId="{44E0EDA6-46B5-EE65-D454-79A0E33ACACC}"/>
          </ac:spMkLst>
        </pc:spChg>
        <pc:spChg chg="mod">
          <ac:chgData name="Dalton Hunter" userId="c67cf935-d0bb-4aef-b0f8-ded619c5a8b2" providerId="ADAL" clId="{03B7EC64-BECD-4824-9763-34B20A93C649}" dt="2026-04-22T00:45:23.572" v="7507" actId="207"/>
          <ac:spMkLst>
            <pc:docMk/>
            <pc:sldMk cId="3271110637" sldId="320"/>
            <ac:spMk id="6" creationId="{C0045EAE-35CA-D041-98D9-A33BAA5F2F50}"/>
          </ac:spMkLst>
        </pc:spChg>
        <pc:spChg chg="mod">
          <ac:chgData name="Dalton Hunter" userId="c67cf935-d0bb-4aef-b0f8-ded619c5a8b2" providerId="ADAL" clId="{03B7EC64-BECD-4824-9763-34B20A93C649}" dt="2026-04-25T23:39:32.940" v="11120" actId="20577"/>
          <ac:spMkLst>
            <pc:docMk/>
            <pc:sldMk cId="3271110637" sldId="320"/>
            <ac:spMk id="8" creationId="{C2E49083-C6E2-E247-F65B-5FD17342A61C}"/>
          </ac:spMkLst>
        </pc:spChg>
        <pc:spChg chg="add mod">
          <ac:chgData name="Dalton Hunter" userId="c67cf935-d0bb-4aef-b0f8-ded619c5a8b2" providerId="ADAL" clId="{03B7EC64-BECD-4824-9763-34B20A93C649}" dt="2026-04-25T23:31:46.600" v="11071" actId="1076"/>
          <ac:spMkLst>
            <pc:docMk/>
            <pc:sldMk cId="3271110637" sldId="320"/>
            <ac:spMk id="9" creationId="{4FF49819-A744-4BD8-F0AC-7E19B7E866DE}"/>
          </ac:spMkLst>
        </pc:spChg>
        <pc:spChg chg="mod">
          <ac:chgData name="Dalton Hunter" userId="c67cf935-d0bb-4aef-b0f8-ded619c5a8b2" providerId="ADAL" clId="{03B7EC64-BECD-4824-9763-34B20A93C649}" dt="2026-04-25T20:52:00.510" v="10534"/>
          <ac:spMkLst>
            <pc:docMk/>
            <pc:sldMk cId="3271110637" sldId="320"/>
            <ac:spMk id="14" creationId="{FC3D4131-7B09-6242-7B94-5463FE143B0B}"/>
          </ac:spMkLst>
        </pc:spChg>
        <pc:spChg chg="add mod">
          <ac:chgData name="Dalton Hunter" userId="c67cf935-d0bb-4aef-b0f8-ded619c5a8b2" providerId="ADAL" clId="{03B7EC64-BECD-4824-9763-34B20A93C649}" dt="2026-04-22T03:28:53.376" v="8238"/>
          <ac:spMkLst>
            <pc:docMk/>
            <pc:sldMk cId="3271110637" sldId="320"/>
            <ac:spMk id="15" creationId="{FDBDAFCB-AF33-FD20-C6E6-637F5A3A26EE}"/>
          </ac:spMkLst>
        </pc:spChg>
        <pc:spChg chg="add mod">
          <ac:chgData name="Dalton Hunter" userId="c67cf935-d0bb-4aef-b0f8-ded619c5a8b2" providerId="ADAL" clId="{03B7EC64-BECD-4824-9763-34B20A93C649}" dt="2026-04-22T00:48:16.574" v="7532" actId="20577"/>
          <ac:spMkLst>
            <pc:docMk/>
            <pc:sldMk cId="3271110637" sldId="320"/>
            <ac:spMk id="18" creationId="{53D50880-A865-72A8-3A7E-8949FF1303EB}"/>
          </ac:spMkLst>
        </pc:spChg>
        <pc:spChg chg="add mod">
          <ac:chgData name="Dalton Hunter" userId="c67cf935-d0bb-4aef-b0f8-ded619c5a8b2" providerId="ADAL" clId="{03B7EC64-BECD-4824-9763-34B20A93C649}" dt="2026-04-22T01:23:07.462" v="7780"/>
          <ac:spMkLst>
            <pc:docMk/>
            <pc:sldMk cId="3271110637" sldId="320"/>
            <ac:spMk id="22" creationId="{E35C15DD-B142-929E-36B8-E04E570A22F1}"/>
          </ac:spMkLst>
        </pc:spChg>
        <pc:picChg chg="add mod">
          <ac:chgData name="Dalton Hunter" userId="c67cf935-d0bb-4aef-b0f8-ded619c5a8b2" providerId="ADAL" clId="{03B7EC64-BECD-4824-9763-34B20A93C649}" dt="2026-04-25T23:31:43.608" v="11070" actId="1076"/>
          <ac:picMkLst>
            <pc:docMk/>
            <pc:sldMk cId="3271110637" sldId="320"/>
            <ac:picMk id="7" creationId="{ADCC351D-EE2F-9664-68DC-27170C0633CC}"/>
          </ac:picMkLst>
        </pc:picChg>
        <pc:picChg chg="add mod modCrop">
          <ac:chgData name="Dalton Hunter" userId="c67cf935-d0bb-4aef-b0f8-ded619c5a8b2" providerId="ADAL" clId="{03B7EC64-BECD-4824-9763-34B20A93C649}" dt="2026-04-25T23:31:49.653" v="11072" actId="1076"/>
          <ac:picMkLst>
            <pc:docMk/>
            <pc:sldMk cId="3271110637" sldId="320"/>
            <ac:picMk id="26" creationId="{0CA164EE-3D6C-5BB1-6B5C-70AF0F12E9FB}"/>
          </ac:picMkLst>
        </pc:picChg>
      </pc:sldChg>
      <pc:sldChg chg="addSp delSp modSp add mod">
        <pc:chgData name="Dalton Hunter" userId="c67cf935-d0bb-4aef-b0f8-ded619c5a8b2" providerId="ADAL" clId="{03B7EC64-BECD-4824-9763-34B20A93C649}" dt="2026-05-06T20:08:20.986" v="11142"/>
        <pc:sldMkLst>
          <pc:docMk/>
          <pc:sldMk cId="651109894" sldId="321"/>
        </pc:sldMkLst>
        <pc:spChg chg="add mod">
          <ac:chgData name="Dalton Hunter" userId="c67cf935-d0bb-4aef-b0f8-ded619c5a8b2" providerId="ADAL" clId="{03B7EC64-BECD-4824-9763-34B20A93C649}" dt="2026-05-06T20:08:20.986" v="11142"/>
          <ac:spMkLst>
            <pc:docMk/>
            <pc:sldMk cId="651109894" sldId="321"/>
            <ac:spMk id="2" creationId="{D0B8E0D4-9A42-F936-E9C8-CA1C31B746BE}"/>
          </ac:spMkLst>
        </pc:spChg>
        <pc:spChg chg="add mod">
          <ac:chgData name="Dalton Hunter" userId="c67cf935-d0bb-4aef-b0f8-ded619c5a8b2" providerId="ADAL" clId="{03B7EC64-BECD-4824-9763-34B20A93C649}" dt="2026-04-25T05:49:41.788" v="10495" actId="1076"/>
          <ac:spMkLst>
            <pc:docMk/>
            <pc:sldMk cId="651109894" sldId="321"/>
            <ac:spMk id="4" creationId="{7051A8AF-E108-DC00-820D-706C9AFC8149}"/>
          </ac:spMkLst>
        </pc:spChg>
        <pc:spChg chg="add mod">
          <ac:chgData name="Dalton Hunter" userId="c67cf935-d0bb-4aef-b0f8-ded619c5a8b2" providerId="ADAL" clId="{03B7EC64-BECD-4824-9763-34B20A93C649}" dt="2026-04-21T23:32:38.820" v="7276" actId="1076"/>
          <ac:spMkLst>
            <pc:docMk/>
            <pc:sldMk cId="651109894" sldId="321"/>
            <ac:spMk id="5" creationId="{8B9C8460-22B4-58E5-FE07-9F1C9D43CE1A}"/>
          </ac:spMkLst>
        </pc:spChg>
        <pc:spChg chg="add del mod">
          <ac:chgData name="Dalton Hunter" userId="c67cf935-d0bb-4aef-b0f8-ded619c5a8b2" providerId="ADAL" clId="{03B7EC64-BECD-4824-9763-34B20A93C649}" dt="2026-05-06T20:08:20.636" v="11141" actId="478"/>
          <ac:spMkLst>
            <pc:docMk/>
            <pc:sldMk cId="651109894" sldId="321"/>
            <ac:spMk id="8" creationId="{C7A93F7F-9C44-59F1-A234-AEF18D8D5BB3}"/>
          </ac:spMkLst>
        </pc:spChg>
        <pc:spChg chg="add mod">
          <ac:chgData name="Dalton Hunter" userId="c67cf935-d0bb-4aef-b0f8-ded619c5a8b2" providerId="ADAL" clId="{03B7EC64-BECD-4824-9763-34B20A93C649}" dt="2026-04-22T00:48:15.300" v="7531" actId="20577"/>
          <ac:spMkLst>
            <pc:docMk/>
            <pc:sldMk cId="651109894" sldId="321"/>
            <ac:spMk id="12" creationId="{CB3FA366-F7F3-A561-CE1D-071635F74A28}"/>
          </ac:spMkLst>
        </pc:spChg>
        <pc:spChg chg="add mod">
          <ac:chgData name="Dalton Hunter" userId="c67cf935-d0bb-4aef-b0f8-ded619c5a8b2" providerId="ADAL" clId="{03B7EC64-BECD-4824-9763-34B20A93C649}" dt="2026-04-22T03:28:53.376" v="8238"/>
          <ac:spMkLst>
            <pc:docMk/>
            <pc:sldMk cId="651109894" sldId="321"/>
            <ac:spMk id="13" creationId="{9E72BF77-A170-F9E1-DC11-75562EB3DE10}"/>
          </ac:spMkLst>
        </pc:spChg>
        <pc:spChg chg="mod">
          <ac:chgData name="Dalton Hunter" userId="c67cf935-d0bb-4aef-b0f8-ded619c5a8b2" providerId="ADAL" clId="{03B7EC64-BECD-4824-9763-34B20A93C649}" dt="2026-04-25T20:52:00.510" v="10534"/>
          <ac:spMkLst>
            <pc:docMk/>
            <pc:sldMk cId="651109894" sldId="321"/>
            <ac:spMk id="14" creationId="{2CE3BB93-3461-21D5-9005-05944C803ED7}"/>
          </ac:spMkLst>
        </pc:spChg>
        <pc:spChg chg="add mod">
          <ac:chgData name="Dalton Hunter" userId="c67cf935-d0bb-4aef-b0f8-ded619c5a8b2" providerId="ADAL" clId="{03B7EC64-BECD-4824-9763-34B20A93C649}" dt="2026-04-22T01:23:09.822" v="7782"/>
          <ac:spMkLst>
            <pc:docMk/>
            <pc:sldMk cId="651109894" sldId="321"/>
            <ac:spMk id="15" creationId="{0B1B1A61-E1B3-1C4B-69A2-7FE5BBF45A55}"/>
          </ac:spMkLst>
        </pc:spChg>
        <pc:spChg chg="add mod">
          <ac:chgData name="Dalton Hunter" userId="c67cf935-d0bb-4aef-b0f8-ded619c5a8b2" providerId="ADAL" clId="{03B7EC64-BECD-4824-9763-34B20A93C649}" dt="2026-04-25T19:00:31.805" v="10510" actId="20577"/>
          <ac:spMkLst>
            <pc:docMk/>
            <pc:sldMk cId="651109894" sldId="321"/>
            <ac:spMk id="17" creationId="{B31C5FD8-4779-EDD5-584F-97028C89C0DB}"/>
          </ac:spMkLst>
        </pc:spChg>
        <pc:spChg chg="add mod">
          <ac:chgData name="Dalton Hunter" userId="c67cf935-d0bb-4aef-b0f8-ded619c5a8b2" providerId="ADAL" clId="{03B7EC64-BECD-4824-9763-34B20A93C649}" dt="2026-04-25T23:32:34.094" v="11073" actId="1076"/>
          <ac:spMkLst>
            <pc:docMk/>
            <pc:sldMk cId="651109894" sldId="321"/>
            <ac:spMk id="25" creationId="{7C570189-203E-BD24-5F38-E0C9AF8A6F2E}"/>
          </ac:spMkLst>
        </pc:spChg>
        <pc:picChg chg="add mod">
          <ac:chgData name="Dalton Hunter" userId="c67cf935-d0bb-4aef-b0f8-ded619c5a8b2" providerId="ADAL" clId="{03B7EC64-BECD-4824-9763-34B20A93C649}" dt="2026-04-25T19:21:13.245" v="10532" actId="14861"/>
          <ac:picMkLst>
            <pc:docMk/>
            <pc:sldMk cId="651109894" sldId="321"/>
            <ac:picMk id="3" creationId="{2FED8546-514B-DDEA-5622-3E0059BC4C9F}"/>
          </ac:picMkLst>
        </pc:picChg>
        <pc:picChg chg="add mod">
          <ac:chgData name="Dalton Hunter" userId="c67cf935-d0bb-4aef-b0f8-ded619c5a8b2" providerId="ADAL" clId="{03B7EC64-BECD-4824-9763-34B20A93C649}" dt="2026-04-25T19:21:13.245" v="10532" actId="14861"/>
          <ac:picMkLst>
            <pc:docMk/>
            <pc:sldMk cId="651109894" sldId="321"/>
            <ac:picMk id="11" creationId="{E992BC6E-5B96-DC7B-2732-A472230B81D7}"/>
          </ac:picMkLst>
        </pc:picChg>
      </pc:sldChg>
      <pc:sldChg chg="addSp delSp modSp add mod">
        <pc:chgData name="Dalton Hunter" userId="c67cf935-d0bb-4aef-b0f8-ded619c5a8b2" providerId="ADAL" clId="{03B7EC64-BECD-4824-9763-34B20A93C649}" dt="2026-05-06T20:08:28.150" v="11146"/>
        <pc:sldMkLst>
          <pc:docMk/>
          <pc:sldMk cId="1014427534" sldId="322"/>
        </pc:sldMkLst>
        <pc:spChg chg="add mod">
          <ac:chgData name="Dalton Hunter" userId="c67cf935-d0bb-4aef-b0f8-ded619c5a8b2" providerId="ADAL" clId="{03B7EC64-BECD-4824-9763-34B20A93C649}" dt="2026-05-06T20:08:28.150" v="11146"/>
          <ac:spMkLst>
            <pc:docMk/>
            <pc:sldMk cId="1014427534" sldId="322"/>
            <ac:spMk id="2" creationId="{7DC832DA-E748-D750-1FFA-4910D9AB5694}"/>
          </ac:spMkLst>
        </pc:spChg>
        <pc:spChg chg="mod">
          <ac:chgData name="Dalton Hunter" userId="c67cf935-d0bb-4aef-b0f8-ded619c5a8b2" providerId="ADAL" clId="{03B7EC64-BECD-4824-9763-34B20A93C649}" dt="2026-04-25T23:16:32.816" v="10981" actId="1076"/>
          <ac:spMkLst>
            <pc:docMk/>
            <pc:sldMk cId="1014427534" sldId="322"/>
            <ac:spMk id="5" creationId="{CBBA3365-2406-A5DC-5667-50E0B48BDA5D}"/>
          </ac:spMkLst>
        </pc:spChg>
        <pc:spChg chg="add del mod">
          <ac:chgData name="Dalton Hunter" userId="c67cf935-d0bb-4aef-b0f8-ded619c5a8b2" providerId="ADAL" clId="{03B7EC64-BECD-4824-9763-34B20A93C649}" dt="2026-04-21T23:33:40.966" v="7282" actId="207"/>
          <ac:spMkLst>
            <pc:docMk/>
            <pc:sldMk cId="1014427534" sldId="322"/>
            <ac:spMk id="6" creationId="{08463C6B-DEDB-19A6-918D-65BFA255E5F7}"/>
          </ac:spMkLst>
        </pc:spChg>
        <pc:spChg chg="add mod">
          <ac:chgData name="Dalton Hunter" userId="c67cf935-d0bb-4aef-b0f8-ded619c5a8b2" providerId="ADAL" clId="{03B7EC64-BECD-4824-9763-34B20A93C649}" dt="2026-04-22T03:28:53.376" v="8238"/>
          <ac:spMkLst>
            <pc:docMk/>
            <pc:sldMk cId="1014427534" sldId="322"/>
            <ac:spMk id="7" creationId="{2A36C36B-60CC-71F5-545B-0831CC6746E1}"/>
          </ac:spMkLst>
        </pc:spChg>
        <pc:spChg chg="add del mod">
          <ac:chgData name="Dalton Hunter" userId="c67cf935-d0bb-4aef-b0f8-ded619c5a8b2" providerId="ADAL" clId="{03B7EC64-BECD-4824-9763-34B20A93C649}" dt="2026-05-06T20:08:27.807" v="11145" actId="478"/>
          <ac:spMkLst>
            <pc:docMk/>
            <pc:sldMk cId="1014427534" sldId="322"/>
            <ac:spMk id="8" creationId="{A9D4AE54-336F-F894-7ADB-2EA4C62C6AEF}"/>
          </ac:spMkLst>
        </pc:spChg>
        <pc:spChg chg="add mod">
          <ac:chgData name="Dalton Hunter" userId="c67cf935-d0bb-4aef-b0f8-ded619c5a8b2" providerId="ADAL" clId="{03B7EC64-BECD-4824-9763-34B20A93C649}" dt="2026-04-22T00:48:13.919" v="7530" actId="20577"/>
          <ac:spMkLst>
            <pc:docMk/>
            <pc:sldMk cId="1014427534" sldId="322"/>
            <ac:spMk id="11" creationId="{09760431-FB28-9280-A630-DBD261158D2E}"/>
          </ac:spMkLst>
        </pc:spChg>
        <pc:spChg chg="mod">
          <ac:chgData name="Dalton Hunter" userId="c67cf935-d0bb-4aef-b0f8-ded619c5a8b2" providerId="ADAL" clId="{03B7EC64-BECD-4824-9763-34B20A93C649}" dt="2026-04-25T20:52:00.510" v="10534"/>
          <ac:spMkLst>
            <pc:docMk/>
            <pc:sldMk cId="1014427534" sldId="322"/>
            <ac:spMk id="14" creationId="{B4B5B4FD-C802-A31A-C35F-23A8A4A34DFE}"/>
          </ac:spMkLst>
        </pc:spChg>
        <pc:spChg chg="add mod">
          <ac:chgData name="Dalton Hunter" userId="c67cf935-d0bb-4aef-b0f8-ded619c5a8b2" providerId="ADAL" clId="{03B7EC64-BECD-4824-9763-34B20A93C649}" dt="2026-04-22T01:23:14.245" v="7784"/>
          <ac:spMkLst>
            <pc:docMk/>
            <pc:sldMk cId="1014427534" sldId="322"/>
            <ac:spMk id="15" creationId="{5BAAC55A-2E6E-D993-47D6-C84C970A3DC6}"/>
          </ac:spMkLst>
        </pc:spChg>
        <pc:spChg chg="add mod">
          <ac:chgData name="Dalton Hunter" userId="c67cf935-d0bb-4aef-b0f8-ded619c5a8b2" providerId="ADAL" clId="{03B7EC64-BECD-4824-9763-34B20A93C649}" dt="2026-04-25T23:11:00.883" v="10967" actId="20577"/>
          <ac:spMkLst>
            <pc:docMk/>
            <pc:sldMk cId="1014427534" sldId="322"/>
            <ac:spMk id="16" creationId="{875940E1-268B-E555-5412-FC79E9DD092F}"/>
          </ac:spMkLst>
        </pc:spChg>
        <pc:spChg chg="add mod">
          <ac:chgData name="Dalton Hunter" userId="c67cf935-d0bb-4aef-b0f8-ded619c5a8b2" providerId="ADAL" clId="{03B7EC64-BECD-4824-9763-34B20A93C649}" dt="2026-04-25T23:11:32.129" v="10975" actId="1076"/>
          <ac:spMkLst>
            <pc:docMk/>
            <pc:sldMk cId="1014427534" sldId="322"/>
            <ac:spMk id="17" creationId="{1246A899-FC6F-6D6B-7587-5A32F3CD635F}"/>
          </ac:spMkLst>
        </pc:spChg>
        <pc:spChg chg="add mod">
          <ac:chgData name="Dalton Hunter" userId="c67cf935-d0bb-4aef-b0f8-ded619c5a8b2" providerId="ADAL" clId="{03B7EC64-BECD-4824-9763-34B20A93C649}" dt="2026-04-25T23:11:26.675" v="10974" actId="1076"/>
          <ac:spMkLst>
            <pc:docMk/>
            <pc:sldMk cId="1014427534" sldId="322"/>
            <ac:spMk id="25" creationId="{42DB2763-2EDB-61D4-9B1F-82E31E7191B7}"/>
          </ac:spMkLst>
        </pc:spChg>
        <pc:picChg chg="add mod">
          <ac:chgData name="Dalton Hunter" userId="c67cf935-d0bb-4aef-b0f8-ded619c5a8b2" providerId="ADAL" clId="{03B7EC64-BECD-4824-9763-34B20A93C649}" dt="2026-04-27T14:11:46.735" v="11130" actId="1076"/>
          <ac:picMkLst>
            <pc:docMk/>
            <pc:sldMk cId="1014427534" sldId="322"/>
            <ac:picMk id="3" creationId="{DE450310-3100-8AD7-8775-16388A836B27}"/>
          </ac:picMkLst>
        </pc:picChg>
        <pc:picChg chg="add mod">
          <ac:chgData name="Dalton Hunter" userId="c67cf935-d0bb-4aef-b0f8-ded619c5a8b2" providerId="ADAL" clId="{03B7EC64-BECD-4824-9763-34B20A93C649}" dt="2026-04-25T23:11:37.712" v="10977" actId="1076"/>
          <ac:picMkLst>
            <pc:docMk/>
            <pc:sldMk cId="1014427534" sldId="322"/>
            <ac:picMk id="13" creationId="{00BF9637-F26F-9F63-FFD9-DE6B9BB1D220}"/>
          </ac:picMkLst>
        </pc:picChg>
        <pc:picChg chg="add mod">
          <ac:chgData name="Dalton Hunter" userId="c67cf935-d0bb-4aef-b0f8-ded619c5a8b2" providerId="ADAL" clId="{03B7EC64-BECD-4824-9763-34B20A93C649}" dt="2026-04-25T23:11:42.350" v="10978" actId="14100"/>
          <ac:picMkLst>
            <pc:docMk/>
            <pc:sldMk cId="1014427534" sldId="322"/>
            <ac:picMk id="29" creationId="{9B06191A-DABD-2A71-AB66-BA17DED70B4A}"/>
          </ac:picMkLst>
        </pc:picChg>
      </pc:sldChg>
      <pc:sldChg chg="addSp delSp modSp add mod">
        <pc:chgData name="Dalton Hunter" userId="c67cf935-d0bb-4aef-b0f8-ded619c5a8b2" providerId="ADAL" clId="{03B7EC64-BECD-4824-9763-34B20A93C649}" dt="2026-05-06T20:08:25.448" v="11144"/>
        <pc:sldMkLst>
          <pc:docMk/>
          <pc:sldMk cId="2895219070" sldId="325"/>
        </pc:sldMkLst>
        <pc:spChg chg="add mod">
          <ac:chgData name="Dalton Hunter" userId="c67cf935-d0bb-4aef-b0f8-ded619c5a8b2" providerId="ADAL" clId="{03B7EC64-BECD-4824-9763-34B20A93C649}" dt="2026-04-25T23:04:27.292" v="10882" actId="20577"/>
          <ac:spMkLst>
            <pc:docMk/>
            <pc:sldMk cId="2895219070" sldId="325"/>
            <ac:spMk id="2" creationId="{E330B3A3-3F3F-101B-176C-2887BE92F294}"/>
          </ac:spMkLst>
        </pc:spChg>
        <pc:spChg chg="add mod">
          <ac:chgData name="Dalton Hunter" userId="c67cf935-d0bb-4aef-b0f8-ded619c5a8b2" providerId="ADAL" clId="{03B7EC64-BECD-4824-9763-34B20A93C649}" dt="2026-05-06T20:08:25.448" v="11144"/>
          <ac:spMkLst>
            <pc:docMk/>
            <pc:sldMk cId="2895219070" sldId="325"/>
            <ac:spMk id="3" creationId="{54831ACC-2BE1-D2AB-D1C4-2373C986940F}"/>
          </ac:spMkLst>
        </pc:spChg>
        <pc:spChg chg="add mod">
          <ac:chgData name="Dalton Hunter" userId="c67cf935-d0bb-4aef-b0f8-ded619c5a8b2" providerId="ADAL" clId="{03B7EC64-BECD-4824-9763-34B20A93C649}" dt="2026-04-27T14:11:02.899" v="11127" actId="1076"/>
          <ac:spMkLst>
            <pc:docMk/>
            <pc:sldMk cId="2895219070" sldId="325"/>
            <ac:spMk id="6" creationId="{C8BA1235-51D8-6448-2AE8-AED80EF304FC}"/>
          </ac:spMkLst>
        </pc:spChg>
        <pc:spChg chg="mod">
          <ac:chgData name="Dalton Hunter" userId="c67cf935-d0bb-4aef-b0f8-ded619c5a8b2" providerId="ADAL" clId="{03B7EC64-BECD-4824-9763-34B20A93C649}" dt="2026-04-27T14:10:58.557" v="11124" actId="1076"/>
          <ac:spMkLst>
            <pc:docMk/>
            <pc:sldMk cId="2895219070" sldId="325"/>
            <ac:spMk id="7" creationId="{69FFE1F2-103E-856B-E2A1-665E873C99A8}"/>
          </ac:spMkLst>
        </pc:spChg>
        <pc:spChg chg="del">
          <ac:chgData name="Dalton Hunter" userId="c67cf935-d0bb-4aef-b0f8-ded619c5a8b2" providerId="ADAL" clId="{03B7EC64-BECD-4824-9763-34B20A93C649}" dt="2026-05-06T20:08:25.111" v="11143" actId="478"/>
          <ac:spMkLst>
            <pc:docMk/>
            <pc:sldMk cId="2895219070" sldId="325"/>
            <ac:spMk id="8" creationId="{F5E9B607-FB95-3A1C-ACAA-BC966D2E9052}"/>
          </ac:spMkLst>
        </pc:spChg>
        <pc:spChg chg="mod">
          <ac:chgData name="Dalton Hunter" userId="c67cf935-d0bb-4aef-b0f8-ded619c5a8b2" providerId="ADAL" clId="{03B7EC64-BECD-4824-9763-34B20A93C649}" dt="2026-04-22T03:28:53.376" v="8238"/>
          <ac:spMkLst>
            <pc:docMk/>
            <pc:sldMk cId="2895219070" sldId="325"/>
            <ac:spMk id="13" creationId="{60FBA192-6E83-1BFB-6D07-FEEBEFF0D452}"/>
          </ac:spMkLst>
        </pc:spChg>
        <pc:spChg chg="mod">
          <ac:chgData name="Dalton Hunter" userId="c67cf935-d0bb-4aef-b0f8-ded619c5a8b2" providerId="ADAL" clId="{03B7EC64-BECD-4824-9763-34B20A93C649}" dt="2026-04-25T20:52:00.510" v="10534"/>
          <ac:spMkLst>
            <pc:docMk/>
            <pc:sldMk cId="2895219070" sldId="325"/>
            <ac:spMk id="14" creationId="{7E72BE81-9626-BF14-F0AB-C1919C4D933F}"/>
          </ac:spMkLst>
        </pc:spChg>
        <pc:picChg chg="add mod">
          <ac:chgData name="Dalton Hunter" userId="c67cf935-d0bb-4aef-b0f8-ded619c5a8b2" providerId="ADAL" clId="{03B7EC64-BECD-4824-9763-34B20A93C649}" dt="2026-04-27T14:10:59.499" v="11125" actId="1076"/>
          <ac:picMkLst>
            <pc:docMk/>
            <pc:sldMk cId="2895219070" sldId="325"/>
            <ac:picMk id="4" creationId="{AF527CB3-A996-6558-B355-240529B37644}"/>
          </ac:picMkLst>
        </pc:picChg>
        <pc:picChg chg="add mod modCrop">
          <ac:chgData name="Dalton Hunter" userId="c67cf935-d0bb-4aef-b0f8-ded619c5a8b2" providerId="ADAL" clId="{03B7EC64-BECD-4824-9763-34B20A93C649}" dt="2026-04-27T14:10:57.224" v="11123" actId="1076"/>
          <ac:picMkLst>
            <pc:docMk/>
            <pc:sldMk cId="2895219070" sldId="325"/>
            <ac:picMk id="9" creationId="{D9726163-9E57-3F32-70BA-18916F50A08B}"/>
          </ac:picMkLst>
        </pc:picChg>
      </pc:sldChg>
      <pc:sldChg chg="addSp delSp modSp add mod">
        <pc:chgData name="Dalton Hunter" userId="c67cf935-d0bb-4aef-b0f8-ded619c5a8b2" providerId="ADAL" clId="{03B7EC64-BECD-4824-9763-34B20A93C649}" dt="2026-05-06T20:08:17.279" v="11140"/>
        <pc:sldMkLst>
          <pc:docMk/>
          <pc:sldMk cId="3020525165" sldId="326"/>
        </pc:sldMkLst>
        <pc:spChg chg="add mod">
          <ac:chgData name="Dalton Hunter" userId="c67cf935-d0bb-4aef-b0f8-ded619c5a8b2" providerId="ADAL" clId="{03B7EC64-BECD-4824-9763-34B20A93C649}" dt="2026-05-06T20:08:17.279" v="11140"/>
          <ac:spMkLst>
            <pc:docMk/>
            <pc:sldMk cId="3020525165" sldId="326"/>
            <ac:spMk id="2" creationId="{6638161D-EAEF-ACD6-0384-44A6DDDE9EA2}"/>
          </ac:spMkLst>
        </pc:spChg>
        <pc:spChg chg="del">
          <ac:chgData name="Dalton Hunter" userId="c67cf935-d0bb-4aef-b0f8-ded619c5a8b2" providerId="ADAL" clId="{03B7EC64-BECD-4824-9763-34B20A93C649}" dt="2026-05-06T20:08:16.800" v="11139" actId="478"/>
          <ac:spMkLst>
            <pc:docMk/>
            <pc:sldMk cId="3020525165" sldId="326"/>
            <ac:spMk id="5" creationId="{4C13601E-4EB6-1844-BF00-3F39A276B945}"/>
          </ac:spMkLst>
        </pc:spChg>
        <pc:spChg chg="mod">
          <ac:chgData name="Dalton Hunter" userId="c67cf935-d0bb-4aef-b0f8-ded619c5a8b2" providerId="ADAL" clId="{03B7EC64-BECD-4824-9763-34B20A93C649}" dt="2026-04-25T20:52:00.510" v="10534"/>
          <ac:spMkLst>
            <pc:docMk/>
            <pc:sldMk cId="3020525165" sldId="326"/>
            <ac:spMk id="14" creationId="{C827A9A6-44B6-F827-D4EA-78C22460E954}"/>
          </ac:spMkLst>
        </pc:spChg>
        <pc:picChg chg="add mod">
          <ac:chgData name="Dalton Hunter" userId="c67cf935-d0bb-4aef-b0f8-ded619c5a8b2" providerId="ADAL" clId="{03B7EC64-BECD-4824-9763-34B20A93C649}" dt="2026-04-25T19:21:06.724" v="10531" actId="14861"/>
          <ac:picMkLst>
            <pc:docMk/>
            <pc:sldMk cId="3020525165" sldId="326"/>
            <ac:picMk id="7" creationId="{5732AEE7-E349-FF83-CC88-65F090809631}"/>
          </ac:picMkLst>
        </pc:picChg>
      </pc:sldChg>
      <pc:sldChg chg="addSp delSp modSp add mod">
        <pc:chgData name="Dalton Hunter" userId="c67cf935-d0bb-4aef-b0f8-ded619c5a8b2" providerId="ADAL" clId="{03B7EC64-BECD-4824-9763-34B20A93C649}" dt="2026-05-06T20:08:30.929" v="11148"/>
        <pc:sldMkLst>
          <pc:docMk/>
          <pc:sldMk cId="3273272679" sldId="327"/>
        </pc:sldMkLst>
        <pc:spChg chg="add mod">
          <ac:chgData name="Dalton Hunter" userId="c67cf935-d0bb-4aef-b0f8-ded619c5a8b2" providerId="ADAL" clId="{03B7EC64-BECD-4824-9763-34B20A93C649}" dt="2026-04-25T23:36:27.661" v="11082" actId="1076"/>
          <ac:spMkLst>
            <pc:docMk/>
            <pc:sldMk cId="3273272679" sldId="327"/>
            <ac:spMk id="2" creationId="{427B1EE1-14C5-1553-30FF-959F1CF2B49A}"/>
          </ac:spMkLst>
        </pc:spChg>
        <pc:spChg chg="add mod">
          <ac:chgData name="Dalton Hunter" userId="c67cf935-d0bb-4aef-b0f8-ded619c5a8b2" providerId="ADAL" clId="{03B7EC64-BECD-4824-9763-34B20A93C649}" dt="2026-04-25T23:36:09.282" v="11078" actId="12"/>
          <ac:spMkLst>
            <pc:docMk/>
            <pc:sldMk cId="3273272679" sldId="327"/>
            <ac:spMk id="3" creationId="{A4A5074E-CECF-0A34-FE4A-C56CB398704D}"/>
          </ac:spMkLst>
        </pc:spChg>
        <pc:spChg chg="add mod">
          <ac:chgData name="Dalton Hunter" userId="c67cf935-d0bb-4aef-b0f8-ded619c5a8b2" providerId="ADAL" clId="{03B7EC64-BECD-4824-9763-34B20A93C649}" dt="2026-05-06T20:08:30.929" v="11148"/>
          <ac:spMkLst>
            <pc:docMk/>
            <pc:sldMk cId="3273272679" sldId="327"/>
            <ac:spMk id="5" creationId="{90C0201A-9008-2F2C-522D-8682B4C69BC0}"/>
          </ac:spMkLst>
        </pc:spChg>
        <pc:spChg chg="del">
          <ac:chgData name="Dalton Hunter" userId="c67cf935-d0bb-4aef-b0f8-ded619c5a8b2" providerId="ADAL" clId="{03B7EC64-BECD-4824-9763-34B20A93C649}" dt="2026-05-06T20:08:30.592" v="11147" actId="478"/>
          <ac:spMkLst>
            <pc:docMk/>
            <pc:sldMk cId="3273272679" sldId="327"/>
            <ac:spMk id="8" creationId="{EA491A22-CA3D-9D3E-E9F4-8B03FEC4206E}"/>
          </ac:spMkLst>
        </pc:spChg>
        <pc:spChg chg="add mod">
          <ac:chgData name="Dalton Hunter" userId="c67cf935-d0bb-4aef-b0f8-ded619c5a8b2" providerId="ADAL" clId="{03B7EC64-BECD-4824-9763-34B20A93C649}" dt="2026-04-25T23:36:31.225" v="11085" actId="1076"/>
          <ac:spMkLst>
            <pc:docMk/>
            <pc:sldMk cId="3273272679" sldId="327"/>
            <ac:spMk id="13" creationId="{E03A3B32-0143-FE04-5A6C-67F0507C226D}"/>
          </ac:spMkLst>
        </pc:spChg>
        <pc:spChg chg="add mod">
          <ac:chgData name="Dalton Hunter" userId="c67cf935-d0bb-4aef-b0f8-ded619c5a8b2" providerId="ADAL" clId="{03B7EC64-BECD-4824-9763-34B20A93C649}" dt="2026-04-25T23:39:39.676" v="11122" actId="1076"/>
          <ac:spMkLst>
            <pc:docMk/>
            <pc:sldMk cId="3273272679" sldId="327"/>
            <ac:spMk id="20" creationId="{A604BAF3-06C0-39C4-75CE-68D745286F9B}"/>
          </ac:spMkLst>
        </pc:spChg>
        <pc:picChg chg="add mod">
          <ac:chgData name="Dalton Hunter" userId="c67cf935-d0bb-4aef-b0f8-ded619c5a8b2" providerId="ADAL" clId="{03B7EC64-BECD-4824-9763-34B20A93C649}" dt="2026-04-25T23:36:25.925" v="11081" actId="1076"/>
          <ac:picMkLst>
            <pc:docMk/>
            <pc:sldMk cId="3273272679" sldId="327"/>
            <ac:picMk id="4" creationId="{C154F1F2-3082-02CC-B382-163625A1CCC9}"/>
          </ac:picMkLst>
        </pc:picChg>
        <pc:picChg chg="add mod">
          <ac:chgData name="Dalton Hunter" userId="c67cf935-d0bb-4aef-b0f8-ded619c5a8b2" providerId="ADAL" clId="{03B7EC64-BECD-4824-9763-34B20A93C649}" dt="2026-04-25T23:36:29.802" v="11084" actId="1076"/>
          <ac:picMkLst>
            <pc:docMk/>
            <pc:sldMk cId="3273272679" sldId="327"/>
            <ac:picMk id="12" creationId="{4E6D1F20-6A6E-B5EB-96C4-FC24D4E01221}"/>
          </ac:picMkLst>
        </pc:picChg>
        <pc:picChg chg="add mod">
          <ac:chgData name="Dalton Hunter" userId="c67cf935-d0bb-4aef-b0f8-ded619c5a8b2" providerId="ADAL" clId="{03B7EC64-BECD-4824-9763-34B20A93C649}" dt="2026-04-25T23:36:39.499" v="11089" actId="1076"/>
          <ac:picMkLst>
            <pc:docMk/>
            <pc:sldMk cId="3273272679" sldId="327"/>
            <ac:picMk id="28" creationId="{1C6EC583-AC09-A978-88E4-A4F1CF8158D6}"/>
          </ac:picMkLst>
        </pc:picChg>
      </pc:sldChg>
      <pc:sldMasterChg chg="setBg modSldLayout">
        <pc:chgData name="Dalton Hunter" userId="c67cf935-d0bb-4aef-b0f8-ded619c5a8b2" providerId="ADAL" clId="{03B7EC64-BECD-4824-9763-34B20A93C649}" dt="2026-04-21T22:17:56.195" v="6933" actId="21"/>
        <pc:sldMasterMkLst>
          <pc:docMk/>
          <pc:sldMasterMk cId="408965317" sldId="2147483660"/>
        </pc:sldMasterMkLst>
        <pc:sldLayoutChg chg="modSp mod">
          <pc:chgData name="Dalton Hunter" userId="c67cf935-d0bb-4aef-b0f8-ded619c5a8b2" providerId="ADAL" clId="{03B7EC64-BECD-4824-9763-34B20A93C649}" dt="2026-04-21T20:40:36.072" v="6524" actId="1076"/>
          <pc:sldLayoutMkLst>
            <pc:docMk/>
            <pc:sldMasterMk cId="408965317" sldId="2147483660"/>
            <pc:sldLayoutMk cId="3151366526" sldId="2147483662"/>
          </pc:sldLayoutMkLst>
          <pc:spChg chg="mod">
            <ac:chgData name="Dalton Hunter" userId="c67cf935-d0bb-4aef-b0f8-ded619c5a8b2" providerId="ADAL" clId="{03B7EC64-BECD-4824-9763-34B20A93C649}" dt="2026-04-21T20:40:36.072" v="6524" actId="1076"/>
            <ac:spMkLst>
              <pc:docMk/>
              <pc:sldMasterMk cId="408965317" sldId="2147483660"/>
              <pc:sldLayoutMk cId="3151366526" sldId="2147483662"/>
              <ac:spMk id="2" creationId="{00000000-0000-0000-0000-000000000000}"/>
            </ac:spMkLst>
          </pc:spChg>
        </pc:sldLayoutChg>
        <pc:sldLayoutChg chg="addSp delSp modSp mod setBg">
          <pc:chgData name="Dalton Hunter" userId="c67cf935-d0bb-4aef-b0f8-ded619c5a8b2" providerId="ADAL" clId="{03B7EC64-BECD-4824-9763-34B20A93C649}" dt="2026-04-21T22:17:56.195" v="6933" actId="21"/>
          <pc:sldLayoutMkLst>
            <pc:docMk/>
            <pc:sldMasterMk cId="408965317" sldId="2147483660"/>
            <pc:sldLayoutMk cId="4291511769" sldId="214748366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2BC5F16-0C94-49DC-85C9-ED233CC4E4C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1807ACA-3873-418D-BA4A-8C66F444C7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11E92D-8763-4C15-8193-A0390DE80F27}" type="datetimeFigureOut">
              <a:rPr lang="en-US" smtClean="0"/>
              <a:t>5/6/2026</a:t>
            </a:fld>
            <a:endParaRPr lang="en-US"/>
          </a:p>
        </p:txBody>
      </p:sp>
      <p:sp>
        <p:nvSpPr>
          <p:cNvPr id="4" name="Footer Placeholder 3">
            <a:extLst>
              <a:ext uri="{FF2B5EF4-FFF2-40B4-BE49-F238E27FC236}">
                <a16:creationId xmlns:a16="http://schemas.microsoft.com/office/drawing/2014/main" id="{A555B203-2B2B-4C6A-9D83-921B4B4A979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2C33519-2050-4D30-A51D-D793EB5C1A9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A63569-33A9-4D7D-B19E-BEBF67649C13}" type="slidenum">
              <a:rPr lang="en-US" smtClean="0"/>
              <a:t>‹#›</a:t>
            </a:fld>
            <a:endParaRPr lang="en-US"/>
          </a:p>
        </p:txBody>
      </p:sp>
    </p:spTree>
    <p:extLst>
      <p:ext uri="{BB962C8B-B14F-4D97-AF65-F5344CB8AC3E}">
        <p14:creationId xmlns:p14="http://schemas.microsoft.com/office/powerpoint/2010/main" val="31666366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B3DDAA-71C2-43B6-AB55-8AF4BF1425D5}" type="datetimeFigureOut">
              <a:rPr lang="en-US" smtClean="0"/>
              <a:t>5/6/2026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D8632E-354B-4F65-A12C-63405E44FFA8}" type="slidenum">
              <a:rPr lang="en-US" smtClean="0"/>
              <a:t>‹#›</a:t>
            </a:fld>
            <a:endParaRPr lang="en-US"/>
          </a:p>
        </p:txBody>
      </p:sp>
    </p:spTree>
    <p:extLst>
      <p:ext uri="{BB962C8B-B14F-4D97-AF65-F5344CB8AC3E}">
        <p14:creationId xmlns:p14="http://schemas.microsoft.com/office/powerpoint/2010/main" val="175251067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646133"/>
            <a:ext cx="6606540" cy="3501813"/>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5282989"/>
            <a:ext cx="5829300" cy="2428451"/>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A203D0D-3858-445B-A39E-0DE07CFF2FA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C41E22-1F1F-40D8-97FA-F8E75C94F929}" type="slidenum">
              <a:rPr lang="en-US" smtClean="0"/>
              <a:t>‹#›</a:t>
            </a:fld>
            <a:endParaRPr lang="en-US"/>
          </a:p>
        </p:txBody>
      </p:sp>
      <p:pic>
        <p:nvPicPr>
          <p:cNvPr id="10" name="Picture 9">
            <a:extLst>
              <a:ext uri="{FF2B5EF4-FFF2-40B4-BE49-F238E27FC236}">
                <a16:creationId xmlns:a16="http://schemas.microsoft.com/office/drawing/2014/main" id="{2003A7BB-3F2C-4AA9-BB0F-2A44100597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7772400" cy="914400"/>
          </a:xfrm>
          <a:prstGeom prst="rect">
            <a:avLst/>
          </a:prstGeom>
        </p:spPr>
      </p:pic>
    </p:spTree>
    <p:extLst>
      <p:ext uri="{BB962C8B-B14F-4D97-AF65-F5344CB8AC3E}">
        <p14:creationId xmlns:p14="http://schemas.microsoft.com/office/powerpoint/2010/main" val="3049454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32E7D925-2F75-49E2-8827-22826CADDEC2}"/>
              </a:ext>
            </a:extLst>
          </p:cNvPr>
          <p:cNvCxnSpPr>
            <a:cxnSpLocks/>
          </p:cNvCxnSpPr>
          <p:nvPr userDrawn="1"/>
        </p:nvCxnSpPr>
        <p:spPr>
          <a:xfrm>
            <a:off x="457200" y="8790191"/>
            <a:ext cx="68580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1511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772400" cy="1944159"/>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203D0D-3858-445B-A39E-0DE07CFF2FA9}"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C41E22-1F1F-40D8-97FA-F8E75C94F929}" type="slidenum">
              <a:rPr lang="en-US" smtClean="0"/>
              <a:t>‹#›</a:t>
            </a:fld>
            <a:endParaRPr lang="en-US"/>
          </a:p>
        </p:txBody>
      </p:sp>
    </p:spTree>
    <p:extLst>
      <p:ext uri="{BB962C8B-B14F-4D97-AF65-F5344CB8AC3E}">
        <p14:creationId xmlns:p14="http://schemas.microsoft.com/office/powerpoint/2010/main" val="31513665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2677584"/>
            <a:ext cx="6703695" cy="6381962"/>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1020">
                <a:solidFill>
                  <a:schemeClr val="tx1">
                    <a:tint val="75000"/>
                  </a:schemeClr>
                </a:solidFill>
                <a:latin typeface="Arial" panose="020B0604020202020204" pitchFamily="34" charset="0"/>
                <a:cs typeface="Arial" panose="020B0604020202020204" pitchFamily="34" charset="0"/>
              </a:defRPr>
            </a:lvl1pPr>
          </a:lstStyle>
          <a:p>
            <a:fld id="{2A203D0D-3858-445B-A39E-0DE07CFF2FA9}" type="datetimeFigureOut">
              <a:rPr lang="en-US" smtClean="0"/>
              <a:pPr/>
              <a:t>5/6/2026</a:t>
            </a:fld>
            <a:endParaRPr lang="en-US"/>
          </a:p>
        </p:txBody>
      </p:sp>
      <p:sp>
        <p:nvSpPr>
          <p:cNvPr id="5" name="Footer Placeholder 4"/>
          <p:cNvSpPr>
            <a:spLocks noGrp="1"/>
          </p:cNvSpPr>
          <p:nvPr>
            <p:ph type="ftr" sz="quarter" idx="3"/>
          </p:nvPr>
        </p:nvSpPr>
        <p:spPr>
          <a:xfrm>
            <a:off x="2574608" y="9322649"/>
            <a:ext cx="2623185" cy="535517"/>
          </a:xfrm>
          <a:prstGeom prst="rect">
            <a:avLst/>
          </a:prstGeom>
        </p:spPr>
        <p:txBody>
          <a:bodyPr vert="horz" lIns="91440" tIns="45720" rIns="91440" bIns="45720" rtlCol="0" anchor="ctr"/>
          <a:lstStyle>
            <a:lvl1pPr algn="ctr">
              <a:defRPr sz="102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1020">
                <a:solidFill>
                  <a:schemeClr val="tx1">
                    <a:tint val="75000"/>
                  </a:schemeClr>
                </a:solidFill>
                <a:latin typeface="Arial" panose="020B0604020202020204" pitchFamily="34" charset="0"/>
                <a:cs typeface="Arial" panose="020B0604020202020204" pitchFamily="34" charset="0"/>
              </a:defRPr>
            </a:lvl1pPr>
          </a:lstStyle>
          <a:p>
            <a:fld id="{5BC41E22-1F1F-40D8-97FA-F8E75C94F929}" type="slidenum">
              <a:rPr lang="en-US" smtClean="0"/>
              <a:pPr/>
              <a:t>‹#›</a:t>
            </a:fld>
            <a:endParaRPr lang="en-US"/>
          </a:p>
        </p:txBody>
      </p:sp>
    </p:spTree>
    <p:extLst>
      <p:ext uri="{BB962C8B-B14F-4D97-AF65-F5344CB8AC3E}">
        <p14:creationId xmlns:p14="http://schemas.microsoft.com/office/powerpoint/2010/main" val="408965317"/>
      </p:ext>
    </p:extLst>
  </p:cSld>
  <p:clrMap bg1="lt1" tx1="dk1" bg2="lt2" tx2="dk2" accent1="accent1" accent2="accent2" accent3="accent3" accent4="accent4" accent5="accent5" accent6="accent6" hlink="hlink" folHlink="folHlink"/>
  <p:sldLayoutIdLst>
    <p:sldLayoutId id="2147483661" r:id="rId1"/>
    <p:sldLayoutId id="2147483667" r:id="rId2"/>
    <p:sldLayoutId id="2147483662" r:id="rId3"/>
  </p:sldLayoutIdLst>
  <p:txStyles>
    <p:title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p:titleStyle>
    <p:bodyStyle>
      <a:lvl1pPr marL="194310" indent="-194310" algn="l" defTabSz="777240" rtl="0" eaLnBrk="1" latinLnBrk="0" hangingPunct="1">
        <a:lnSpc>
          <a:spcPct val="90000"/>
        </a:lnSpc>
        <a:spcBef>
          <a:spcPts val="850"/>
        </a:spcBef>
        <a:buClr>
          <a:schemeClr val="tx2">
            <a:lumMod val="60000"/>
            <a:lumOff val="40000"/>
          </a:schemeClr>
        </a:buClr>
        <a:buSzPct val="110000"/>
        <a:buFont typeface="Wingdings" panose="05000000000000000000" pitchFamily="2" charset="2"/>
        <a:buChar char="§"/>
        <a:defRPr sz="2380" kern="1200">
          <a:solidFill>
            <a:schemeClr val="tx1"/>
          </a:solidFill>
          <a:latin typeface="Arial" panose="020B0604020202020204" pitchFamily="34" charset="0"/>
          <a:ea typeface="+mn-ea"/>
          <a:cs typeface="Arial" panose="020B0604020202020204" pitchFamily="34" charset="0"/>
        </a:defRPr>
      </a:lvl1pPr>
      <a:lvl2pPr marL="582930" indent="-194310" algn="l" defTabSz="777240" rtl="0" eaLnBrk="1" latinLnBrk="0" hangingPunct="1">
        <a:lnSpc>
          <a:spcPct val="90000"/>
        </a:lnSpc>
        <a:spcBef>
          <a:spcPts val="425"/>
        </a:spcBef>
        <a:buClr>
          <a:schemeClr val="tx2">
            <a:lumMod val="60000"/>
            <a:lumOff val="40000"/>
          </a:schemeClr>
        </a:buClr>
        <a:buSzPct val="110000"/>
        <a:buFont typeface="Wingdings" panose="05000000000000000000" pitchFamily="2" charset="2"/>
        <a:buChar char="§"/>
        <a:defRPr sz="2040" kern="1200">
          <a:solidFill>
            <a:schemeClr val="tx1"/>
          </a:solidFill>
          <a:latin typeface="Arial" panose="020B0604020202020204" pitchFamily="34" charset="0"/>
          <a:ea typeface="+mn-ea"/>
          <a:cs typeface="Arial" panose="020B0604020202020204" pitchFamily="34" charset="0"/>
        </a:defRPr>
      </a:lvl2pPr>
      <a:lvl3pPr marL="971550" indent="-194310" algn="l" defTabSz="777240" rtl="0" eaLnBrk="1" latinLnBrk="0" hangingPunct="1">
        <a:lnSpc>
          <a:spcPct val="90000"/>
        </a:lnSpc>
        <a:spcBef>
          <a:spcPts val="425"/>
        </a:spcBef>
        <a:buClr>
          <a:schemeClr val="tx2">
            <a:lumMod val="60000"/>
            <a:lumOff val="40000"/>
          </a:schemeClr>
        </a:buClr>
        <a:buSzPct val="110000"/>
        <a:buFont typeface="Wingdings" panose="05000000000000000000" pitchFamily="2" charset="2"/>
        <a:buChar char="§"/>
        <a:defRPr sz="1700" kern="1200">
          <a:solidFill>
            <a:schemeClr val="tx1"/>
          </a:solidFill>
          <a:latin typeface="Arial" panose="020B0604020202020204" pitchFamily="34" charset="0"/>
          <a:ea typeface="+mn-ea"/>
          <a:cs typeface="Arial" panose="020B0604020202020204" pitchFamily="34" charset="0"/>
        </a:defRPr>
      </a:lvl3pPr>
      <a:lvl4pPr marL="1360170" indent="-194310" algn="l" defTabSz="777240" rtl="0" eaLnBrk="1" latinLnBrk="0" hangingPunct="1">
        <a:lnSpc>
          <a:spcPct val="90000"/>
        </a:lnSpc>
        <a:spcBef>
          <a:spcPts val="425"/>
        </a:spcBef>
        <a:buClr>
          <a:schemeClr val="tx2">
            <a:lumMod val="60000"/>
            <a:lumOff val="40000"/>
          </a:schemeClr>
        </a:buClr>
        <a:buSzPct val="110000"/>
        <a:buFont typeface="Wingdings" panose="05000000000000000000" pitchFamily="2" charset="2"/>
        <a:buChar char="§"/>
        <a:defRPr sz="1530" kern="1200">
          <a:solidFill>
            <a:schemeClr val="tx1"/>
          </a:solidFill>
          <a:latin typeface="Arial" panose="020B0604020202020204" pitchFamily="34" charset="0"/>
          <a:ea typeface="+mn-ea"/>
          <a:cs typeface="Arial" panose="020B0604020202020204" pitchFamily="34" charset="0"/>
        </a:defRPr>
      </a:lvl4pPr>
      <a:lvl5pPr marL="1748790" indent="-194310" algn="l" defTabSz="777240" rtl="0" eaLnBrk="1" latinLnBrk="0" hangingPunct="1">
        <a:lnSpc>
          <a:spcPct val="90000"/>
        </a:lnSpc>
        <a:spcBef>
          <a:spcPts val="425"/>
        </a:spcBef>
        <a:buClr>
          <a:schemeClr val="tx2">
            <a:lumMod val="60000"/>
            <a:lumOff val="40000"/>
          </a:schemeClr>
        </a:buClr>
        <a:buSzPct val="110000"/>
        <a:buFont typeface="Wingdings" panose="05000000000000000000" pitchFamily="2" charset="2"/>
        <a:buChar char="§"/>
        <a:defRPr sz="1530" kern="1200">
          <a:solidFill>
            <a:schemeClr val="tx1"/>
          </a:solidFill>
          <a:latin typeface="Arial" panose="020B0604020202020204" pitchFamily="34" charset="0"/>
          <a:ea typeface="+mn-ea"/>
          <a:cs typeface="Arial" panose="020B0604020202020204" pitchFamily="34"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attack.mitre.org/groups/G0032/" TargetMode="External"/><Relationship Id="rId1" Type="http://schemas.openxmlformats.org/officeDocument/2006/relationships/slideLayout" Target="../slideLayouts/slideLayout2.xml"/><Relationship Id="rId5" Type="http://schemas.openxmlformats.org/officeDocument/2006/relationships/hyperlink" Target="https://www.nbcnews.com/news/north-korea/how-north-korea-recruits-trains-its-army-hackers-n825521"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cloud.google.com/blog/topics/threat-intelligence/north-korea-cyber-structure-alignment-2023"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orld.kbs.co.kr/service/news_view.htm?lang=e&amp;Seq_Code=200982" TargetMode="Externa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hyperlink" Target="https://www.cfr.org/cyber-operations/lazarus-group"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attack.mitre.org/techniques/T1566/" TargetMode="External"/><Relationship Id="rId1" Type="http://schemas.openxmlformats.org/officeDocument/2006/relationships/slideLayout" Target="../slideLayouts/slideLayout2.xml"/><Relationship Id="rId5" Type="http://schemas.openxmlformats.org/officeDocument/2006/relationships/hyperlink" Target="https://www.rescana.com/post/lazarus-group-targets-npm-pypi-and-github-developers-with-fake-job-recruiter-malware-campaign/" TargetMode="Externa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cisa.gov/news-events/cybersecurity-advisories/aa22-108a" TargetMode="Externa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hyperlink" Target="https://www.cyber.nj.gov/Home/Components/News/News/1560/" TargetMode="External"/><Relationship Id="rId1" Type="http://schemas.openxmlformats.org/officeDocument/2006/relationships/slideLayout" Target="../slideLayouts/slideLayout2.xml"/><Relationship Id="rId6" Type="http://schemas.openxmlformats.org/officeDocument/2006/relationships/hyperlink" Target="https://www.cyfirma.com/research/apt-profile-lazarus-group/" TargetMode="External"/><Relationship Id="rId5" Type="http://schemas.openxmlformats.org/officeDocument/2006/relationships/hyperlink" Target="https://www.coindesk.com/tech/2026/04/22/lazarus-group-has-become-especially-dangerous-with-new-mach-o-man-attack-certik" TargetMode="Externa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369F3B4-AE1F-F084-40B4-D1B7AE940943}"/>
              </a:ext>
            </a:extLst>
          </p:cNvPr>
          <p:cNvSpPr txBox="1"/>
          <p:nvPr/>
        </p:nvSpPr>
        <p:spPr>
          <a:xfrm>
            <a:off x="0" y="0"/>
            <a:ext cx="7772400" cy="10064294"/>
          </a:xfrm>
          <a:prstGeom prst="rect">
            <a:avLst/>
          </a:prstGeom>
          <a:solidFill>
            <a:schemeClr val="bg1">
              <a:lumMod val="75000"/>
            </a:schemeClr>
          </a:solidFill>
          <a:ln w="9525">
            <a:solidFill>
              <a:schemeClr val="tx1"/>
            </a:solidFill>
            <a:prstDash val="solid"/>
          </a:ln>
        </p:spPr>
        <p:txBody>
          <a:bodyPr wrap="square" rtlCol="0">
            <a:spAutoFit/>
          </a:bodyPr>
          <a:lstStyle/>
          <a:p>
            <a:endParaRPr lang="en-US" sz="3600" b="1" dirty="0">
              <a:solidFill>
                <a:schemeClr val="bg1">
                  <a:lumMod val="50000"/>
                </a:schemeClr>
              </a:solidFill>
            </a:endParaRPr>
          </a:p>
          <a:p>
            <a:pPr algn="ctr"/>
            <a:endParaRPr lang="en-US" sz="3600" b="1" dirty="0"/>
          </a:p>
          <a:p>
            <a:pPr algn="ctr"/>
            <a:endParaRPr lang="en-US" sz="3600" b="1" dirty="0"/>
          </a:p>
          <a:p>
            <a:pPr algn="ctr"/>
            <a:endParaRPr lang="en-US" sz="3600" b="1" dirty="0"/>
          </a:p>
          <a:p>
            <a:pPr algn="ctr"/>
            <a:endParaRPr lang="en-US" sz="3600" b="1" dirty="0"/>
          </a:p>
          <a:p>
            <a:r>
              <a:rPr lang="en-US" sz="3600" b="1" dirty="0"/>
              <a:t>	</a:t>
            </a:r>
            <a:r>
              <a:rPr lang="en-US" sz="3200" b="1" dirty="0"/>
              <a:t>Threat Intelligence Report</a:t>
            </a:r>
          </a:p>
          <a:p>
            <a:r>
              <a:rPr lang="en-US" sz="3600" b="1" dirty="0">
                <a:solidFill>
                  <a:schemeClr val="bg1">
                    <a:lumMod val="50000"/>
                  </a:schemeClr>
                </a:solidFill>
              </a:rPr>
              <a:t>	</a:t>
            </a:r>
            <a:r>
              <a:rPr lang="en-US" sz="3200" b="1" dirty="0">
                <a:solidFill>
                  <a:schemeClr val="bg1">
                    <a:lumMod val="50000"/>
                  </a:schemeClr>
                </a:solidFill>
              </a:rPr>
              <a:t>Lazarus Group</a:t>
            </a:r>
          </a:p>
          <a:p>
            <a:pPr algn="ctr"/>
            <a:endParaRPr lang="en-US" sz="3600" b="1" dirty="0">
              <a:solidFill>
                <a:schemeClr val="bg1">
                  <a:lumMod val="50000"/>
                </a:schemeClr>
              </a:solidFill>
            </a:endParaRPr>
          </a:p>
          <a:p>
            <a:pPr>
              <a:lnSpc>
                <a:spcPct val="150000"/>
              </a:lnSpc>
            </a:pPr>
            <a:r>
              <a:rPr lang="en-US" sz="2000" b="1" dirty="0"/>
              <a:t>	Date: </a:t>
            </a:r>
            <a:r>
              <a:rPr lang="en-US" dirty="0"/>
              <a:t>25APRIL2026</a:t>
            </a:r>
            <a:br>
              <a:rPr lang="en-US" b="1" dirty="0"/>
            </a:br>
            <a:r>
              <a:rPr lang="en-US" b="1" dirty="0"/>
              <a:t>	</a:t>
            </a:r>
            <a:r>
              <a:rPr lang="en-US" sz="2000" b="1" dirty="0"/>
              <a:t>Report Type: </a:t>
            </a:r>
            <a:r>
              <a:rPr lang="en-US" dirty="0"/>
              <a:t>Portfolio</a:t>
            </a:r>
            <a:br>
              <a:rPr lang="en-US" b="1" dirty="0"/>
            </a:br>
            <a:r>
              <a:rPr lang="en-US" b="1" dirty="0"/>
              <a:t>	</a:t>
            </a:r>
            <a:r>
              <a:rPr lang="en-US" sz="2000" b="1" dirty="0"/>
              <a:t>Focus: </a:t>
            </a:r>
            <a:r>
              <a:rPr lang="en-US" dirty="0"/>
              <a:t>Advanced Persistent Threat (APT) Analysis</a:t>
            </a:r>
            <a:br>
              <a:rPr lang="en-US" dirty="0"/>
            </a:br>
            <a:r>
              <a:rPr lang="en-US" dirty="0"/>
              <a:t>	</a:t>
            </a:r>
            <a:r>
              <a:rPr lang="en-US" sz="2000" b="1" dirty="0"/>
              <a:t>Prepared By: </a:t>
            </a:r>
            <a:r>
              <a:rPr lang="en-US" dirty="0"/>
              <a:t>Dalton Hunter</a:t>
            </a:r>
            <a:br>
              <a:rPr lang="en-US" b="1" dirty="0"/>
            </a:br>
            <a:r>
              <a:rPr lang="en-US" b="1" dirty="0"/>
              <a:t>	</a:t>
            </a:r>
            <a:r>
              <a:rPr lang="en-US" sz="2000" b="1" dirty="0"/>
              <a:t>Discipline: </a:t>
            </a:r>
            <a:r>
              <a:rPr lang="en-US" dirty="0"/>
              <a:t>Threat Intelligence</a:t>
            </a:r>
            <a:br>
              <a:rPr lang="en-US" b="1" dirty="0"/>
            </a:br>
            <a:r>
              <a:rPr lang="en-US" b="1" dirty="0"/>
              <a:t>	</a:t>
            </a:r>
            <a:r>
              <a:rPr lang="en-US" sz="2000" b="1" dirty="0"/>
              <a:t>Version: </a:t>
            </a:r>
            <a:r>
              <a:rPr lang="en-US" dirty="0"/>
              <a:t>1.0</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cxnSp>
        <p:nvCxnSpPr>
          <p:cNvPr id="5" name="Straight Connector 4">
            <a:extLst>
              <a:ext uri="{FF2B5EF4-FFF2-40B4-BE49-F238E27FC236}">
                <a16:creationId xmlns:a16="http://schemas.microsoft.com/office/drawing/2014/main" id="{E2479117-3E6C-9678-EB49-0829AAEFE4E6}"/>
              </a:ext>
            </a:extLst>
          </p:cNvPr>
          <p:cNvCxnSpPr>
            <a:cxnSpLocks/>
          </p:cNvCxnSpPr>
          <p:nvPr/>
        </p:nvCxnSpPr>
        <p:spPr>
          <a:xfrm>
            <a:off x="561975" y="4102100"/>
            <a:ext cx="5603875" cy="0"/>
          </a:xfrm>
          <a:prstGeom prst="line">
            <a:avLst/>
          </a:prstGeom>
          <a:ln>
            <a:solidFill>
              <a:schemeClr val="tx1">
                <a:lumMod val="50000"/>
                <a:lumOff val="50000"/>
              </a:schemeClr>
            </a:solidFill>
          </a:ln>
          <a:effectLst>
            <a:glow rad="38100">
              <a:schemeClr val="accent3">
                <a:satMod val="175000"/>
                <a:alpha val="75000"/>
              </a:schemeClr>
            </a:glow>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163965-1BB4-0D6E-931C-E5931483F55A}"/>
              </a:ext>
            </a:extLst>
          </p:cNvPr>
          <p:cNvCxnSpPr>
            <a:cxnSpLocks/>
          </p:cNvCxnSpPr>
          <p:nvPr/>
        </p:nvCxnSpPr>
        <p:spPr>
          <a:xfrm>
            <a:off x="561975" y="2559050"/>
            <a:ext cx="5603875" cy="0"/>
          </a:xfrm>
          <a:prstGeom prst="line">
            <a:avLst/>
          </a:prstGeom>
          <a:ln>
            <a:solidFill>
              <a:schemeClr val="tx1">
                <a:lumMod val="50000"/>
                <a:lumOff val="50000"/>
              </a:schemeClr>
            </a:solidFill>
          </a:ln>
          <a:effectLst>
            <a:glow rad="38100">
              <a:schemeClr val="accent3">
                <a:satMod val="175000"/>
                <a:alpha val="75000"/>
              </a:schemeClr>
            </a:glow>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40EC481-5EE7-2B3B-3D58-B6770C285BAF}"/>
              </a:ext>
            </a:extLst>
          </p:cNvPr>
          <p:cNvCxnSpPr>
            <a:cxnSpLocks/>
          </p:cNvCxnSpPr>
          <p:nvPr/>
        </p:nvCxnSpPr>
        <p:spPr>
          <a:xfrm>
            <a:off x="561975" y="7600950"/>
            <a:ext cx="5603875" cy="0"/>
          </a:xfrm>
          <a:prstGeom prst="line">
            <a:avLst/>
          </a:prstGeom>
          <a:ln>
            <a:solidFill>
              <a:schemeClr val="tx1">
                <a:lumMod val="50000"/>
                <a:lumOff val="50000"/>
              </a:schemeClr>
            </a:solidFill>
          </a:ln>
          <a:effectLst>
            <a:glow rad="38100">
              <a:schemeClr val="accent3">
                <a:satMod val="175000"/>
                <a:alpha val="75000"/>
              </a:schemeClr>
            </a:glow>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FC70E055-3F8E-928B-B585-2653D7A6CEDA}"/>
              </a:ext>
            </a:extLst>
          </p:cNvPr>
          <p:cNvCxnSpPr>
            <a:cxnSpLocks/>
          </p:cNvCxnSpPr>
          <p:nvPr/>
        </p:nvCxnSpPr>
        <p:spPr>
          <a:xfrm flipV="1">
            <a:off x="561974" y="7824786"/>
            <a:ext cx="5019676" cy="119062"/>
          </a:xfrm>
          <a:prstGeom prst="bentConnector3">
            <a:avLst>
              <a:gd name="adj1" fmla="val 50000"/>
            </a:avLst>
          </a:prstGeom>
          <a:ln>
            <a:solidFill>
              <a:schemeClr val="tx1">
                <a:lumMod val="50000"/>
                <a:lumOff val="50000"/>
              </a:schemeClr>
            </a:solidFill>
          </a:ln>
          <a:effectLst>
            <a:glow rad="38100">
              <a:schemeClr val="accent3">
                <a:satMod val="175000"/>
                <a:alpha val="75000"/>
              </a:schemeClr>
            </a:glow>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01C4DD43-60F6-BEE0-E836-DFD1E7B7CE73}"/>
              </a:ext>
            </a:extLst>
          </p:cNvPr>
          <p:cNvCxnSpPr>
            <a:cxnSpLocks/>
          </p:cNvCxnSpPr>
          <p:nvPr/>
        </p:nvCxnSpPr>
        <p:spPr>
          <a:xfrm>
            <a:off x="561974" y="2214563"/>
            <a:ext cx="4930776" cy="104775"/>
          </a:xfrm>
          <a:prstGeom prst="bentConnector3">
            <a:avLst/>
          </a:prstGeom>
          <a:ln>
            <a:solidFill>
              <a:schemeClr val="tx1">
                <a:lumMod val="50000"/>
                <a:lumOff val="50000"/>
              </a:schemeClr>
            </a:solidFill>
          </a:ln>
          <a:effectLst>
            <a:glow rad="38100">
              <a:schemeClr val="accent3">
                <a:satMod val="175000"/>
                <a:alpha val="75000"/>
              </a:schemeClr>
            </a:glow>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6099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51B56FE-B144-A837-26F9-50B3237E4F0C}"/>
              </a:ext>
            </a:extLst>
          </p:cNvPr>
          <p:cNvSpPr txBox="1"/>
          <p:nvPr/>
        </p:nvSpPr>
        <p:spPr>
          <a:xfrm>
            <a:off x="238261" y="4534306"/>
            <a:ext cx="7295877" cy="1231106"/>
          </a:xfrm>
          <a:prstGeom prst="rect">
            <a:avLst/>
          </a:prstGeom>
          <a:noFill/>
          <a:ln>
            <a:solidFill>
              <a:schemeClr val="tx1"/>
            </a:solidFill>
          </a:ln>
        </p:spPr>
        <p:txBody>
          <a:bodyPr wrap="square" rtlCol="0">
            <a:spAutoFit/>
          </a:bodyPr>
          <a:lstStyle/>
          <a:p>
            <a:pPr algn="ctr"/>
            <a:r>
              <a:rPr lang="en-US" sz="1400" b="1" u="sng" dirty="0">
                <a:solidFill>
                  <a:schemeClr val="tx1">
                    <a:lumMod val="50000"/>
                    <a:lumOff val="50000"/>
                  </a:schemeClr>
                </a:solidFill>
                <a:latin typeface="Arial" panose="020B0604020202020204" pitchFamily="34" charset="0"/>
                <a:ea typeface="Roboto" panose="02000000000000000000" pitchFamily="2" charset="0"/>
                <a:cs typeface="Arial" panose="020B0604020202020204" pitchFamily="34" charset="0"/>
              </a:rPr>
              <a:t>Report Sections</a:t>
            </a:r>
          </a:p>
          <a:p>
            <a:pPr marL="285750" indent="-285750">
              <a:buFont typeface="Arial" panose="020B0604020202020204" pitchFamily="34" charset="0"/>
              <a:buChar char="•"/>
            </a:pPr>
            <a:r>
              <a:rPr lang="en-US" sz="1200" b="1" dirty="0">
                <a:latin typeface="Arial" panose="020B0604020202020204" pitchFamily="34" charset="0"/>
                <a:ea typeface="Roboto" panose="02000000000000000000" pitchFamily="2" charset="0"/>
                <a:cs typeface="Arial" panose="020B0604020202020204" pitchFamily="34" charset="0"/>
              </a:rPr>
              <a:t>Section 1: Threat Actor Overview</a:t>
            </a:r>
          </a:p>
          <a:p>
            <a:pPr marL="285750" indent="-285750">
              <a:buFont typeface="Arial" panose="020B0604020202020204" pitchFamily="34" charset="0"/>
              <a:buChar char="•"/>
            </a:pPr>
            <a:r>
              <a:rPr lang="en-US" sz="1200" b="1" dirty="0">
                <a:latin typeface="Arial" panose="020B0604020202020204" pitchFamily="34" charset="0"/>
                <a:ea typeface="Roboto" panose="02000000000000000000" pitchFamily="2" charset="0"/>
                <a:cs typeface="Arial" panose="020B0604020202020204" pitchFamily="34" charset="0"/>
              </a:rPr>
              <a:t>Section 2: Targeting &amp; Victimology</a:t>
            </a:r>
          </a:p>
          <a:p>
            <a:pPr marL="285750" indent="-285750">
              <a:buFont typeface="Arial" panose="020B0604020202020204" pitchFamily="34" charset="0"/>
              <a:buChar char="•"/>
            </a:pPr>
            <a:r>
              <a:rPr lang="en-US" sz="1200" b="1" dirty="0">
                <a:latin typeface="Arial" panose="020B0604020202020204" pitchFamily="34" charset="0"/>
                <a:ea typeface="Roboto" panose="02000000000000000000" pitchFamily="2" charset="0"/>
                <a:cs typeface="Arial" panose="020B0604020202020204" pitchFamily="34" charset="0"/>
              </a:rPr>
              <a:t>Section 3: Tactics, Techniques, and Procedures (TTPs)</a:t>
            </a:r>
          </a:p>
          <a:p>
            <a:pPr marL="285750" indent="-285750">
              <a:buFont typeface="Arial" panose="020B0604020202020204" pitchFamily="34" charset="0"/>
              <a:buChar char="•"/>
            </a:pPr>
            <a:r>
              <a:rPr lang="en-US" sz="1200" b="1" dirty="0">
                <a:latin typeface="Arial" panose="020B0604020202020204" pitchFamily="34" charset="0"/>
                <a:ea typeface="Roboto" panose="02000000000000000000" pitchFamily="2" charset="0"/>
                <a:cs typeface="Arial" panose="020B0604020202020204" pitchFamily="34" charset="0"/>
              </a:rPr>
              <a:t>Section 4</a:t>
            </a:r>
            <a:r>
              <a:rPr lang="en-US" sz="1200" b="1">
                <a:latin typeface="Arial" panose="020B0604020202020204" pitchFamily="34" charset="0"/>
                <a:ea typeface="Roboto" panose="02000000000000000000" pitchFamily="2" charset="0"/>
                <a:cs typeface="Arial" panose="020B0604020202020204" pitchFamily="34" charset="0"/>
              </a:rPr>
              <a:t>: Indicators </a:t>
            </a:r>
            <a:r>
              <a:rPr lang="en-US" sz="1200" b="1" dirty="0">
                <a:latin typeface="Arial" panose="020B0604020202020204" pitchFamily="34" charset="0"/>
                <a:ea typeface="Roboto" panose="02000000000000000000" pitchFamily="2" charset="0"/>
                <a:cs typeface="Arial" panose="020B0604020202020204" pitchFamily="34" charset="0"/>
              </a:rPr>
              <a:t>of Compromise (IOCs)</a:t>
            </a:r>
          </a:p>
          <a:p>
            <a:pPr marL="285750" indent="-285750">
              <a:spcAft>
                <a:spcPts val="1200"/>
              </a:spcAft>
              <a:buFont typeface="Arial" panose="020B0604020202020204" pitchFamily="34" charset="0"/>
              <a:buChar char="•"/>
            </a:pPr>
            <a:r>
              <a:rPr lang="en-US" sz="1200" b="1" dirty="0">
                <a:latin typeface="Arial" panose="020B0604020202020204" pitchFamily="34" charset="0"/>
                <a:ea typeface="Roboto" panose="02000000000000000000" pitchFamily="2" charset="0"/>
                <a:cs typeface="Arial" panose="020B0604020202020204" pitchFamily="34" charset="0"/>
              </a:rPr>
              <a:t>Section 5: Analytic Assessment</a:t>
            </a:r>
          </a:p>
        </p:txBody>
      </p:sp>
      <p:sp>
        <p:nvSpPr>
          <p:cNvPr id="10" name="TextBox 9">
            <a:extLst>
              <a:ext uri="{FF2B5EF4-FFF2-40B4-BE49-F238E27FC236}">
                <a16:creationId xmlns:a16="http://schemas.microsoft.com/office/drawing/2014/main" id="{0F205AF5-089C-CDFC-2799-0F00EB7B08D3}"/>
              </a:ext>
            </a:extLst>
          </p:cNvPr>
          <p:cNvSpPr txBox="1"/>
          <p:nvPr/>
        </p:nvSpPr>
        <p:spPr>
          <a:xfrm>
            <a:off x="238261" y="2799972"/>
            <a:ext cx="7295877" cy="1600438"/>
          </a:xfrm>
          <a:prstGeom prst="rect">
            <a:avLst/>
          </a:prstGeom>
          <a:noFill/>
          <a:ln>
            <a:solidFill>
              <a:schemeClr val="tx1"/>
            </a:solidFill>
          </a:ln>
        </p:spPr>
        <p:txBody>
          <a:bodyPr wrap="square" rtlCol="0">
            <a:spAutoFit/>
          </a:bodyPr>
          <a:lstStyle/>
          <a:p>
            <a:pPr algn="ctr"/>
            <a:r>
              <a:rPr lang="en-US" sz="1400" b="1" u="sng" dirty="0">
                <a:solidFill>
                  <a:schemeClr val="tx1">
                    <a:lumMod val="50000"/>
                    <a:lumOff val="50000"/>
                  </a:schemeClr>
                </a:solidFill>
                <a:latin typeface="Arial" panose="020B0604020202020204" pitchFamily="34" charset="0"/>
                <a:ea typeface="Roboto" panose="02000000000000000000" pitchFamily="2" charset="0"/>
                <a:cs typeface="Arial" panose="020B0604020202020204" pitchFamily="34" charset="0"/>
              </a:rPr>
              <a:t>Methodology</a:t>
            </a:r>
          </a:p>
          <a:p>
            <a:r>
              <a:rPr lang="en-US" sz="1200" dirty="0"/>
              <a:t>This report was developed using Open-Source Intelligence (OSINT) and dark web–derived information obtained from publicly accessible and reputable sources, including security research publications, news reporting, technical analyses, and indexed web content. Structured queries were used to identify relevant information relating to Lazarus Group infrastructure, behavioral patterns, and associated identifiers.</a:t>
            </a:r>
          </a:p>
          <a:p>
            <a:r>
              <a:rPr lang="en-US" sz="1200" dirty="0"/>
              <a:t>All information was evaluated for credibility, relevance, and corroboration across multiple sources prior to inclusion. No unauthorized access, private datasets, or proprietary systems were used. The research was conducted using lawful and ethical methods for analytical and educational purposes.</a:t>
            </a:r>
          </a:p>
        </p:txBody>
      </p:sp>
      <p:sp>
        <p:nvSpPr>
          <p:cNvPr id="11" name="TextBox 10">
            <a:extLst>
              <a:ext uri="{FF2B5EF4-FFF2-40B4-BE49-F238E27FC236}">
                <a16:creationId xmlns:a16="http://schemas.microsoft.com/office/drawing/2014/main" id="{00CF53A5-57CE-13DC-5FC6-62A7E07FFEBC}"/>
              </a:ext>
            </a:extLst>
          </p:cNvPr>
          <p:cNvSpPr txBox="1"/>
          <p:nvPr/>
        </p:nvSpPr>
        <p:spPr>
          <a:xfrm>
            <a:off x="238261" y="1065638"/>
            <a:ext cx="7295877" cy="1600438"/>
          </a:xfrm>
          <a:prstGeom prst="rect">
            <a:avLst/>
          </a:prstGeom>
          <a:noFill/>
          <a:ln>
            <a:solidFill>
              <a:schemeClr val="tx1"/>
            </a:solidFill>
          </a:ln>
        </p:spPr>
        <p:txBody>
          <a:bodyPr wrap="square" rtlCol="0">
            <a:spAutoFit/>
          </a:bodyPr>
          <a:lstStyle/>
          <a:p>
            <a:pPr algn="ctr"/>
            <a:r>
              <a:rPr lang="en-US" sz="1400" b="1" dirty="0">
                <a:latin typeface="Arial" panose="020B0604020202020204" pitchFamily="34" charset="0"/>
                <a:ea typeface="Roboto" panose="02000000000000000000" pitchFamily="2" charset="0"/>
                <a:cs typeface="Arial" panose="020B0604020202020204" pitchFamily="34" charset="0"/>
              </a:rPr>
              <a:t>Executive Summary</a:t>
            </a:r>
          </a:p>
          <a:p>
            <a:r>
              <a:rPr lang="en-US" sz="1200" dirty="0">
                <a:latin typeface="Arial" panose="020B0604020202020204" pitchFamily="34" charset="0"/>
                <a:cs typeface="Arial" panose="020B0604020202020204" pitchFamily="34" charset="0"/>
              </a:rPr>
              <a:t>This report provides an analytical overview of the threat actor known as the Lazarus Group, based on Open-Source Intelligence (OSINT), dark web intelligence sources, and publicly available reporting. The assessment examines observed behavior, including actor background, targeting patterns and victimology, tactics, techniques and procedures (TTPs), indicators of compromise (IOCs), and an overall evaluation of capability and intent. The objective of this report is to consolidate available intelligence into a structured threat profile that supports understanding of associated risk, operational behavior, and observed activity attributed to the actor.</a:t>
            </a:r>
          </a:p>
        </p:txBody>
      </p:sp>
      <p:sp>
        <p:nvSpPr>
          <p:cNvPr id="4" name="TextBox 3">
            <a:extLst>
              <a:ext uri="{FF2B5EF4-FFF2-40B4-BE49-F238E27FC236}">
                <a16:creationId xmlns:a16="http://schemas.microsoft.com/office/drawing/2014/main" id="{B328B62A-0635-3456-4EB3-21F55BCFDDAE}"/>
              </a:ext>
            </a:extLst>
          </p:cNvPr>
          <p:cNvSpPr txBox="1"/>
          <p:nvPr/>
        </p:nvSpPr>
        <p:spPr>
          <a:xfrm>
            <a:off x="5321299" y="8913692"/>
            <a:ext cx="1993900" cy="246221"/>
          </a:xfrm>
          <a:prstGeom prst="rect">
            <a:avLst/>
          </a:prstGeom>
          <a:noFill/>
        </p:spPr>
        <p:txBody>
          <a:bodyPr wrap="square" lIns="0" rIns="0" rtlCol="0" anchor="ctr">
            <a:spAutoFit/>
          </a:bodyPr>
          <a:lstStyle/>
          <a:p>
            <a:pPr lvl="0" algn="r">
              <a:defRPr/>
            </a:pP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 </a:t>
            </a:r>
            <a:r>
              <a:rPr lang="en-US" sz="1000" b="1" dirty="0">
                <a:solidFill>
                  <a:schemeClr val="tx1">
                    <a:lumMod val="65000"/>
                    <a:lumOff val="35000"/>
                  </a:schemeClr>
                </a:solidFill>
                <a:latin typeface="Roboto" panose="02000000000000000000" pitchFamily="2" charset="0"/>
                <a:ea typeface="Roboto" panose="02000000000000000000" pitchFamily="2" charset="0"/>
                <a:cs typeface="Arial" panose="020B0604020202020204" pitchFamily="34" charset="0"/>
              </a:rPr>
              <a:t>Portfolio: github.com/dalhunter </a:t>
            </a: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a:t>
            </a:r>
            <a:endParaRPr lang="en-US" sz="1000" b="1" dirty="0">
              <a:solidFill>
                <a:schemeClr val="tx2"/>
              </a:solidFill>
              <a:latin typeface="Roboto" panose="02000000000000000000" pitchFamily="2" charset="0"/>
              <a:ea typeface="Roboto" panose="02000000000000000000" pitchFamily="2" charset="0"/>
              <a:cs typeface="Arial" panose="020B0604020202020204" pitchFamily="34" charset="0"/>
            </a:endParaRPr>
          </a:p>
        </p:txBody>
      </p:sp>
      <p:sp>
        <p:nvSpPr>
          <p:cNvPr id="6" name="Title 7">
            <a:extLst>
              <a:ext uri="{FF2B5EF4-FFF2-40B4-BE49-F238E27FC236}">
                <a16:creationId xmlns:a16="http://schemas.microsoft.com/office/drawing/2014/main" id="{3E139B42-013D-B8FB-0B3F-5E2674CA013D}"/>
              </a:ext>
            </a:extLst>
          </p:cNvPr>
          <p:cNvSpPr txBox="1">
            <a:spLocks/>
          </p:cNvSpPr>
          <p:nvPr/>
        </p:nvSpPr>
        <p:spPr>
          <a:xfrm>
            <a:off x="0" y="0"/>
            <a:ext cx="7772400" cy="825227"/>
          </a:xfrm>
          <a:prstGeom prst="rect">
            <a:avLst/>
          </a:prstGeom>
          <a:solidFill>
            <a:schemeClr val="bg1">
              <a:lumMod val="75000"/>
            </a:schemeClr>
          </a:solidFill>
          <a:ln>
            <a:noFill/>
          </a:ln>
          <a:effectLst>
            <a:outerShdw blurRad="50800" dist="38100" dir="5400000" algn="t" rotWithShape="0">
              <a:prstClr val="black">
                <a:alpha val="40000"/>
              </a:prstClr>
            </a:outerShdw>
          </a:effectLst>
        </p:spPr>
        <p:txBody>
          <a:bodyPr>
            <a:noAutofit/>
          </a:bodyPr>
          <a:lst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a:lstStyle>
          <a:p>
            <a:endParaRPr lang="en-US" sz="2400" b="1" dirty="0">
              <a:solidFill>
                <a:srgbClr val="4666EF"/>
              </a:solidFill>
            </a:endParaRPr>
          </a:p>
          <a:p>
            <a:endParaRPr lang="en-US" sz="2400" b="1" dirty="0">
              <a:solidFill>
                <a:srgbClr val="4666EF"/>
              </a:solidFill>
            </a:endParaRPr>
          </a:p>
        </p:txBody>
      </p:sp>
      <p:sp>
        <p:nvSpPr>
          <p:cNvPr id="13" name="TextBox 12">
            <a:extLst>
              <a:ext uri="{FF2B5EF4-FFF2-40B4-BE49-F238E27FC236}">
                <a16:creationId xmlns:a16="http://schemas.microsoft.com/office/drawing/2014/main" id="{0DEBFF1E-256A-FCC5-8F58-913F824D5E0C}"/>
              </a:ext>
            </a:extLst>
          </p:cNvPr>
          <p:cNvSpPr txBox="1"/>
          <p:nvPr/>
        </p:nvSpPr>
        <p:spPr>
          <a:xfrm>
            <a:off x="457200" y="9201528"/>
            <a:ext cx="6858000" cy="461665"/>
          </a:xfrm>
          <a:prstGeom prst="rect">
            <a:avLst/>
          </a:prstGeom>
          <a:noFill/>
        </p:spPr>
        <p:txBody>
          <a:bodyPr wrap="square" lIns="0" rIns="0" rtlCol="0">
            <a:spAutoFit/>
          </a:bodyPr>
          <a:lstStyle/>
          <a:p>
            <a:pPr algn="just"/>
            <a:r>
              <a:rPr lang="en-US" sz="800" i="0" dirty="0">
                <a:latin typeface="Roboto" panose="02000000000000000000" pitchFamily="2" charset="0"/>
                <a:ea typeface="Roboto" panose="02000000000000000000" pitchFamily="2" charset="0"/>
                <a:cs typeface="Arial" panose="020B0604020202020204" pitchFamily="34" charset="0"/>
              </a:rPr>
              <a:t>This document is intended for educational and portfolio purposes only. All information presented is derived from publicly available open-source intelligence (OSINT) sources, including surface web, technical intelligence feeds, and publicly accessible dark web resources used for security research and threat monitoring. No unauthorized access to private systems or non-public data was used in the creation of this report.</a:t>
            </a:r>
            <a:endParaRPr lang="en-US" sz="1000" i="0" dirty="0">
              <a:latin typeface="Roboto" panose="02000000000000000000" pitchFamily="2" charset="0"/>
              <a:ea typeface="Roboto" panose="02000000000000000000" pitchFamily="2" charset="0"/>
              <a:cs typeface="Arial" panose="020B0604020202020204" pitchFamily="34" charset="0"/>
            </a:endParaRPr>
          </a:p>
        </p:txBody>
      </p:sp>
      <p:sp>
        <p:nvSpPr>
          <p:cNvPr id="7" name="TextBox 6">
            <a:extLst>
              <a:ext uri="{FF2B5EF4-FFF2-40B4-BE49-F238E27FC236}">
                <a16:creationId xmlns:a16="http://schemas.microsoft.com/office/drawing/2014/main" id="{477856B4-BC7D-F655-072D-362921479097}"/>
              </a:ext>
            </a:extLst>
          </p:cNvPr>
          <p:cNvSpPr txBox="1"/>
          <p:nvPr/>
        </p:nvSpPr>
        <p:spPr>
          <a:xfrm>
            <a:off x="457201" y="8913693"/>
            <a:ext cx="2661313" cy="246221"/>
          </a:xfrm>
          <a:prstGeom prst="rect">
            <a:avLst/>
          </a:prstGeom>
          <a:noFill/>
        </p:spPr>
        <p:txBody>
          <a:bodyPr wrap="square" lIns="0" rIns="0" rtlCol="0" anchor="ctr">
            <a:spAutoFit/>
          </a:bodyPr>
          <a:lstStyle/>
          <a:p>
            <a:pPr lvl="0">
              <a:defRPr/>
            </a:pPr>
            <a:r>
              <a:rPr lang="en-US" sz="1000" b="1" dirty="0">
                <a:solidFill>
                  <a:schemeClr val="tx1">
                    <a:lumMod val="65000"/>
                    <a:lumOff val="35000"/>
                  </a:schemeClr>
                </a:solidFill>
                <a:latin typeface="Arial" panose="020B0604020202020204" pitchFamily="34" charset="0"/>
                <a:ea typeface="Roboto" panose="02000000000000000000" pitchFamily="2" charset="0"/>
                <a:cs typeface="Arial" panose="020B0604020202020204" pitchFamily="34" charset="0"/>
              </a:rPr>
              <a:t>25APRIL2026</a:t>
            </a:r>
          </a:p>
        </p:txBody>
      </p:sp>
      <p:sp>
        <p:nvSpPr>
          <p:cNvPr id="2" name="TextBox 2">
            <a:extLst>
              <a:ext uri="{FF2B5EF4-FFF2-40B4-BE49-F238E27FC236}">
                <a16:creationId xmlns:a16="http://schemas.microsoft.com/office/drawing/2014/main" id="{32A2BA3A-9FA1-E24E-AEA6-9E6501B67C69}"/>
              </a:ext>
            </a:extLst>
          </p:cNvPr>
          <p:cNvSpPr txBox="1"/>
          <p:nvPr/>
        </p:nvSpPr>
        <p:spPr>
          <a:xfrm>
            <a:off x="5459977" y="282677"/>
            <a:ext cx="2074161"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200" b="1" dirty="0">
                <a:latin typeface="Arial" panose="020B0604020202020204" pitchFamily="34" charset="0"/>
                <a:cs typeface="Arial" panose="020B0604020202020204" pitchFamily="34" charset="0"/>
              </a:rPr>
              <a:t>Threat Intelligence Report</a:t>
            </a:r>
          </a:p>
        </p:txBody>
      </p:sp>
      <p:sp>
        <p:nvSpPr>
          <p:cNvPr id="8" name="TextBox 7">
            <a:extLst>
              <a:ext uri="{FF2B5EF4-FFF2-40B4-BE49-F238E27FC236}">
                <a16:creationId xmlns:a16="http://schemas.microsoft.com/office/drawing/2014/main" id="{6890BBD6-8F55-9B6B-B1C2-D3D1B849C224}"/>
              </a:ext>
            </a:extLst>
          </p:cNvPr>
          <p:cNvSpPr txBox="1"/>
          <p:nvPr/>
        </p:nvSpPr>
        <p:spPr>
          <a:xfrm>
            <a:off x="196849" y="300371"/>
            <a:ext cx="1563968"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Lazarus Group</a:t>
            </a:r>
          </a:p>
        </p:txBody>
      </p:sp>
    </p:spTree>
    <p:extLst>
      <p:ext uri="{BB962C8B-B14F-4D97-AF65-F5344CB8AC3E}">
        <p14:creationId xmlns:p14="http://schemas.microsoft.com/office/powerpoint/2010/main" val="624131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0045EAE-35CA-D041-98D9-A33BAA5F2F50}"/>
              </a:ext>
            </a:extLst>
          </p:cNvPr>
          <p:cNvSpPr txBox="1"/>
          <p:nvPr/>
        </p:nvSpPr>
        <p:spPr>
          <a:xfrm>
            <a:off x="2723082" y="898486"/>
            <a:ext cx="2090637" cy="338554"/>
          </a:xfrm>
          <a:prstGeom prst="rect">
            <a:avLst/>
          </a:prstGeom>
          <a:noFill/>
        </p:spPr>
        <p:txBody>
          <a:bodyPr wrap="none" rtlCol="0">
            <a:spAutoFit/>
          </a:bodyPr>
          <a:lstStyle/>
          <a:p>
            <a:pPr algn="l"/>
            <a:r>
              <a:rPr lang="en-US" sz="1600" b="1" u="sng" dirty="0">
                <a:latin typeface="Arial" panose="020B0604020202020204" pitchFamily="34" charset="0"/>
                <a:cs typeface="Arial" panose="020B0604020202020204" pitchFamily="34" charset="0"/>
              </a:rPr>
              <a:t>Findings of Interest</a:t>
            </a:r>
          </a:p>
        </p:txBody>
      </p:sp>
      <p:sp>
        <p:nvSpPr>
          <p:cNvPr id="8" name="TextBox 7">
            <a:extLst>
              <a:ext uri="{FF2B5EF4-FFF2-40B4-BE49-F238E27FC236}">
                <a16:creationId xmlns:a16="http://schemas.microsoft.com/office/drawing/2014/main" id="{C2E49083-C6E2-E247-F65B-5FD17342A61C}"/>
              </a:ext>
            </a:extLst>
          </p:cNvPr>
          <p:cNvSpPr txBox="1"/>
          <p:nvPr/>
        </p:nvSpPr>
        <p:spPr>
          <a:xfrm>
            <a:off x="196849" y="1237040"/>
            <a:ext cx="7283747" cy="4131900"/>
          </a:xfrm>
          <a:prstGeom prst="rect">
            <a:avLst/>
          </a:prstGeom>
          <a:noFill/>
        </p:spPr>
        <p:txBody>
          <a:bodyPr wrap="square" rtlCol="0">
            <a:spAutoFit/>
          </a:bodyPr>
          <a:lstStyle/>
          <a:p>
            <a:pPr algn="l"/>
            <a:r>
              <a:rPr lang="en-US" sz="1400" b="1" u="sng" dirty="0">
                <a:latin typeface="Arial" panose="020B0604020202020204" pitchFamily="34" charset="0"/>
                <a:ea typeface="Roboto" panose="02000000000000000000" pitchFamily="2" charset="0"/>
                <a:cs typeface="Arial" panose="020B0604020202020204" pitchFamily="34" charset="0"/>
              </a:rPr>
              <a:t>Section 1: Threat Actor Overview</a:t>
            </a:r>
          </a:p>
          <a:p>
            <a:pPr marL="171450" indent="-171450">
              <a:spcAft>
                <a:spcPts val="900"/>
              </a:spcAft>
              <a:buFont typeface="Arial" panose="020B0604020202020204" pitchFamily="34" charset="0"/>
              <a:buChar char="•"/>
            </a:pPr>
            <a:r>
              <a:rPr lang="en-US" sz="1200" dirty="0"/>
              <a:t>Lazarus Group is a North Korea linked advanced persistent threat (APT) actor assessed to operate as part of the Democratic People’s Republic of Korea (DPRK) state cyber operations ecosystem. The group conducts both espionage and financially motivated cyber operations, often through distinct but overlapping sub-clusters, including APT38. </a:t>
            </a:r>
            <a:r>
              <a:rPr lang="en-US" sz="1200" b="1" dirty="0">
                <a:latin typeface="Arial" panose="020B0604020202020204" pitchFamily="34" charset="0"/>
                <a:cs typeface="Arial" panose="020B0604020202020204" pitchFamily="34" charset="0"/>
              </a:rPr>
              <a:t>(Figure 1)</a:t>
            </a:r>
            <a:endParaRPr lang="en-US" sz="1200" dirty="0">
              <a:latin typeface="Arial" panose="020B0604020202020204" pitchFamily="34" charset="0"/>
              <a:cs typeface="Arial" panose="020B0604020202020204" pitchFamily="34" charset="0"/>
            </a:endParaRPr>
          </a:p>
          <a:p>
            <a:pPr marL="171450" indent="-171450">
              <a:spcAft>
                <a:spcPts val="600"/>
              </a:spcAft>
              <a:buFont typeface="Arial" panose="020B0604020202020204" pitchFamily="34" charset="0"/>
              <a:buChar char="•"/>
            </a:pPr>
            <a:r>
              <a:rPr lang="en-US" sz="1200" dirty="0"/>
              <a:t>Active since at least the mid-2000s, Lazarus is widely recognized as one of the most established APT groups globally. Its activity has been consistently attributed by multiple government and private-sector intelligence organizations, reflecting a sustained, state-directed capability. Reporting also indicates DPRK prioritizes technical talent from STEM fields to support its cyber operations infrastructure. </a:t>
            </a:r>
            <a:r>
              <a:rPr lang="en-US" sz="1200" b="1" dirty="0">
                <a:latin typeface="Arial" panose="020B0604020202020204" pitchFamily="34" charset="0"/>
                <a:cs typeface="Arial" panose="020B0604020202020204" pitchFamily="34" charset="0"/>
              </a:rPr>
              <a:t>(Figure 2)</a:t>
            </a:r>
          </a:p>
          <a:p>
            <a:pPr>
              <a:spcAft>
                <a:spcPts val="300"/>
              </a:spcAft>
            </a:pPr>
            <a:r>
              <a:rPr lang="en-US" sz="1200" b="1" dirty="0">
                <a:latin typeface="Arial" panose="020B0604020202020204" pitchFamily="34" charset="0"/>
                <a:cs typeface="Arial" panose="020B0604020202020204" pitchFamily="34" charset="0"/>
              </a:rPr>
              <a:t>	Lazarus Group – Names by Organization </a:t>
            </a:r>
          </a:p>
          <a:p>
            <a:pPr marL="1085850" lvl="2" indent="-171450">
              <a:spcAft>
                <a:spcPts val="300"/>
              </a:spcAft>
              <a:buFont typeface="Arial" panose="020B0604020202020204" pitchFamily="34" charset="0"/>
              <a:buChar char="•"/>
            </a:pPr>
            <a:r>
              <a:rPr lang="en-US" sz="1200" b="1" dirty="0">
                <a:latin typeface="Arial" panose="020B0604020202020204" pitchFamily="34" charset="0"/>
                <a:cs typeface="Arial" panose="020B0604020202020204" pitchFamily="34" charset="0"/>
              </a:rPr>
              <a:t>U.S. Government: </a:t>
            </a:r>
            <a:r>
              <a:rPr lang="en-US" sz="1200" dirty="0">
                <a:latin typeface="Arial" panose="020B0604020202020204" pitchFamily="34" charset="0"/>
                <a:cs typeface="Arial" panose="020B0604020202020204" pitchFamily="34" charset="0"/>
              </a:rPr>
              <a:t>HIDDEN COBRA </a:t>
            </a:r>
          </a:p>
          <a:p>
            <a:pPr marL="1085850" lvl="2" indent="-171450">
              <a:spcAft>
                <a:spcPts val="300"/>
              </a:spcAft>
              <a:buFont typeface="Arial" panose="020B0604020202020204" pitchFamily="34" charset="0"/>
              <a:buChar char="•"/>
            </a:pPr>
            <a:r>
              <a:rPr lang="en-US" sz="1200" b="1" dirty="0">
                <a:latin typeface="Arial" panose="020B0604020202020204" pitchFamily="34" charset="0"/>
                <a:cs typeface="Arial" panose="020B0604020202020204" pitchFamily="34" charset="0"/>
              </a:rPr>
              <a:t>MITRE ATT&amp;CK:</a:t>
            </a:r>
            <a:r>
              <a:rPr lang="en-US" sz="1200" dirty="0">
                <a:latin typeface="Arial" panose="020B0604020202020204" pitchFamily="34" charset="0"/>
                <a:cs typeface="Arial" panose="020B0604020202020204" pitchFamily="34" charset="0"/>
              </a:rPr>
              <a:t> Lazarus Group (G0032) </a:t>
            </a:r>
          </a:p>
          <a:p>
            <a:pPr marL="1085850" lvl="2" indent="-171450">
              <a:spcAft>
                <a:spcPts val="300"/>
              </a:spcAft>
              <a:buFont typeface="Arial" panose="020B0604020202020204" pitchFamily="34" charset="0"/>
              <a:buChar char="•"/>
            </a:pPr>
            <a:r>
              <a:rPr lang="en-US" sz="1200" b="1" dirty="0">
                <a:latin typeface="Arial" panose="020B0604020202020204" pitchFamily="34" charset="0"/>
                <a:cs typeface="Arial" panose="020B0604020202020204" pitchFamily="34" charset="0"/>
              </a:rPr>
              <a:t>Microsoft Threat Intelligence:</a:t>
            </a:r>
            <a:r>
              <a:rPr lang="en-US" sz="1200" dirty="0">
                <a:latin typeface="Arial" panose="020B0604020202020204" pitchFamily="34" charset="0"/>
                <a:cs typeface="Arial" panose="020B0604020202020204" pitchFamily="34" charset="0"/>
              </a:rPr>
              <a:t> ZINC, Diamond Sleet </a:t>
            </a:r>
          </a:p>
          <a:p>
            <a:pPr marL="1085850" lvl="2" indent="-171450">
              <a:spcAft>
                <a:spcPts val="300"/>
              </a:spcAft>
              <a:buFont typeface="Arial" panose="020B0604020202020204" pitchFamily="34" charset="0"/>
              <a:buChar char="•"/>
            </a:pPr>
            <a:r>
              <a:rPr lang="en-US" sz="1200" b="1" dirty="0">
                <a:latin typeface="Arial" panose="020B0604020202020204" pitchFamily="34" charset="0"/>
                <a:cs typeface="Arial" panose="020B0604020202020204" pitchFamily="34" charset="0"/>
              </a:rPr>
              <a:t>CrowdStrike:</a:t>
            </a:r>
            <a:r>
              <a:rPr lang="en-US" sz="1200" dirty="0">
                <a:latin typeface="Arial" panose="020B0604020202020204" pitchFamily="34" charset="0"/>
                <a:cs typeface="Arial" panose="020B0604020202020204" pitchFamily="34" charset="0"/>
              </a:rPr>
              <a:t> Labyrinth Chollima, Stardust Chollima </a:t>
            </a:r>
          </a:p>
          <a:p>
            <a:pPr marL="1085850" lvl="2" indent="-171450">
              <a:spcAft>
                <a:spcPts val="300"/>
              </a:spcAft>
              <a:buFont typeface="Arial" panose="020B0604020202020204" pitchFamily="34" charset="0"/>
              <a:buChar char="•"/>
            </a:pPr>
            <a:r>
              <a:rPr lang="en-US" sz="1200" b="1" dirty="0">
                <a:latin typeface="Arial" panose="020B0604020202020204" pitchFamily="34" charset="0"/>
                <a:cs typeface="Arial" panose="020B0604020202020204" pitchFamily="34" charset="0"/>
              </a:rPr>
              <a:t>Mandiant (Google):</a:t>
            </a:r>
            <a:r>
              <a:rPr lang="en-US" sz="1200" dirty="0">
                <a:latin typeface="Arial" panose="020B0604020202020204" pitchFamily="34" charset="0"/>
                <a:cs typeface="Arial" panose="020B0604020202020204" pitchFamily="34" charset="0"/>
              </a:rPr>
              <a:t> APT38 (financial subgroup) </a:t>
            </a:r>
            <a:r>
              <a:rPr lang="en-US" sz="1200" b="1" dirty="0">
                <a:latin typeface="Arial" panose="020B0604020202020204" pitchFamily="34" charset="0"/>
                <a:cs typeface="Arial" panose="020B0604020202020204" pitchFamily="34" charset="0"/>
              </a:rPr>
              <a:t>(Figure 3)</a:t>
            </a:r>
            <a:endParaRPr lang="en-US" sz="1200" dirty="0">
              <a:latin typeface="Arial" panose="020B0604020202020204" pitchFamily="34" charset="0"/>
              <a:cs typeface="Arial" panose="020B0604020202020204" pitchFamily="34" charset="0"/>
            </a:endParaRPr>
          </a:p>
          <a:p>
            <a:pPr marL="1085850" lvl="2" indent="-171450">
              <a:spcAft>
                <a:spcPts val="300"/>
              </a:spcAft>
              <a:buFont typeface="Arial" panose="020B0604020202020204" pitchFamily="34" charset="0"/>
              <a:buChar char="•"/>
            </a:pPr>
            <a:r>
              <a:rPr lang="en-US" sz="1200" b="1" dirty="0">
                <a:latin typeface="Arial" panose="020B0604020202020204" pitchFamily="34" charset="0"/>
                <a:cs typeface="Arial" panose="020B0604020202020204" pitchFamily="34" charset="0"/>
              </a:rPr>
              <a:t>Secureworks:</a:t>
            </a:r>
            <a:r>
              <a:rPr lang="en-US" sz="1200" dirty="0">
                <a:latin typeface="Arial" panose="020B0604020202020204" pitchFamily="34" charset="0"/>
                <a:cs typeface="Arial" panose="020B0604020202020204" pitchFamily="34" charset="0"/>
              </a:rPr>
              <a:t> NICKEL ACADEMY </a:t>
            </a:r>
          </a:p>
          <a:p>
            <a:pPr marL="1085850" lvl="2" indent="-171450">
              <a:spcAft>
                <a:spcPts val="300"/>
              </a:spcAft>
              <a:buFont typeface="Arial" panose="020B0604020202020204" pitchFamily="34" charset="0"/>
              <a:buChar char="•"/>
            </a:pPr>
            <a:r>
              <a:rPr lang="en-US" sz="1200" b="1" dirty="0">
                <a:latin typeface="Arial" panose="020B0604020202020204" pitchFamily="34" charset="0"/>
                <a:cs typeface="Arial" panose="020B0604020202020204" pitchFamily="34" charset="0"/>
              </a:rPr>
              <a:t>Broadcom:</a:t>
            </a:r>
            <a:r>
              <a:rPr lang="en-US" sz="1200" dirty="0">
                <a:latin typeface="Arial" panose="020B0604020202020204" pitchFamily="34" charset="0"/>
                <a:cs typeface="Arial" panose="020B0604020202020204" pitchFamily="34" charset="0"/>
              </a:rPr>
              <a:t> Lazarus Group </a:t>
            </a:r>
          </a:p>
          <a:p>
            <a:pPr marL="1085850" lvl="2" indent="-171450">
              <a:spcAft>
                <a:spcPts val="1200"/>
              </a:spcAft>
              <a:buFont typeface="Arial" panose="020B0604020202020204" pitchFamily="34" charset="0"/>
              <a:buChar char="•"/>
            </a:pPr>
            <a:r>
              <a:rPr lang="en-US" sz="1200" b="1" dirty="0">
                <a:latin typeface="Arial" panose="020B0604020202020204" pitchFamily="34" charset="0"/>
                <a:cs typeface="Arial" panose="020B0604020202020204" pitchFamily="34" charset="0"/>
              </a:rPr>
              <a:t>Historical Names:</a:t>
            </a:r>
            <a:r>
              <a:rPr lang="en-US" sz="1200" dirty="0">
                <a:latin typeface="Arial" panose="020B0604020202020204" pitchFamily="34" charset="0"/>
                <a:cs typeface="Arial" panose="020B0604020202020204" pitchFamily="34" charset="0"/>
              </a:rPr>
              <a:t> Guardians of Peace, </a:t>
            </a:r>
            <a:r>
              <a:rPr lang="en-US" sz="1200" dirty="0" err="1">
                <a:latin typeface="Arial" panose="020B0604020202020204" pitchFamily="34" charset="0"/>
                <a:cs typeface="Arial" panose="020B0604020202020204" pitchFamily="34" charset="0"/>
              </a:rPr>
              <a:t>BeagleBoyz</a:t>
            </a:r>
            <a:r>
              <a:rPr lang="en-US" sz="1200" dirty="0">
                <a:latin typeface="Arial" panose="020B0604020202020204" pitchFamily="34" charset="0"/>
                <a:cs typeface="Arial" panose="020B0604020202020204" pitchFamily="34" charset="0"/>
              </a:rPr>
              <a:t>, Bluenoroff, </a:t>
            </a:r>
            <a:r>
              <a:rPr lang="en-US" sz="1200" dirty="0" err="1">
                <a:latin typeface="Arial" panose="020B0604020202020204" pitchFamily="34" charset="0"/>
                <a:cs typeface="Arial" panose="020B0604020202020204" pitchFamily="34" charset="0"/>
              </a:rPr>
              <a:t>Andariel</a:t>
            </a:r>
            <a:r>
              <a:rPr lang="en-US" sz="1200" dirty="0">
                <a:solidFill>
                  <a:schemeClr val="tx1">
                    <a:lumMod val="50000"/>
                    <a:lumOff val="50000"/>
                  </a:schemeClr>
                </a:solidFill>
                <a:latin typeface="Arial" panose="020B0604020202020204" pitchFamily="34" charset="0"/>
                <a:cs typeface="Arial" panose="020B0604020202020204" pitchFamily="34" charset="0"/>
              </a:rPr>
              <a:t>.</a:t>
            </a:r>
            <a:endParaRPr lang="en-US" sz="1200" b="1" dirty="0">
              <a:solidFill>
                <a:schemeClr val="tx1">
                  <a:lumMod val="50000"/>
                  <a:lumOff val="50000"/>
                </a:schemeClr>
              </a:solidFill>
              <a:latin typeface="Arial" panose="020B0604020202020204" pitchFamily="34" charset="0"/>
              <a:ea typeface="Roboto" panose="02000000000000000000" pitchFamily="2" charset="0"/>
              <a:cs typeface="Arial" panose="020B0604020202020204" pitchFamily="34" charset="0"/>
            </a:endParaRPr>
          </a:p>
        </p:txBody>
      </p:sp>
      <p:sp>
        <p:nvSpPr>
          <p:cNvPr id="14" name="TextBox 13">
            <a:extLst>
              <a:ext uri="{FF2B5EF4-FFF2-40B4-BE49-F238E27FC236}">
                <a16:creationId xmlns:a16="http://schemas.microsoft.com/office/drawing/2014/main" id="{FC3D4131-7B09-6242-7B94-5463FE143B0B}"/>
              </a:ext>
            </a:extLst>
          </p:cNvPr>
          <p:cNvSpPr txBox="1"/>
          <p:nvPr/>
        </p:nvSpPr>
        <p:spPr>
          <a:xfrm>
            <a:off x="457201" y="8913693"/>
            <a:ext cx="2661313" cy="246221"/>
          </a:xfrm>
          <a:prstGeom prst="rect">
            <a:avLst/>
          </a:prstGeom>
          <a:noFill/>
        </p:spPr>
        <p:txBody>
          <a:bodyPr wrap="square" lIns="0" rIns="0" rtlCol="0" anchor="ctr">
            <a:spAutoFit/>
          </a:bodyPr>
          <a:lstStyle/>
          <a:p>
            <a:pPr lvl="0">
              <a:defRPr/>
            </a:pPr>
            <a:r>
              <a:rPr lang="en-US" sz="1000" b="1" dirty="0">
                <a:solidFill>
                  <a:schemeClr val="tx1">
                    <a:lumMod val="65000"/>
                    <a:lumOff val="35000"/>
                  </a:schemeClr>
                </a:solidFill>
                <a:latin typeface="Arial" panose="020B0604020202020204" pitchFamily="34" charset="0"/>
                <a:ea typeface="Roboto" panose="02000000000000000000" pitchFamily="2" charset="0"/>
                <a:cs typeface="Arial" panose="020B0604020202020204" pitchFamily="34" charset="0"/>
              </a:rPr>
              <a:t>25APRIL2026</a:t>
            </a:r>
          </a:p>
        </p:txBody>
      </p:sp>
      <p:sp>
        <p:nvSpPr>
          <p:cNvPr id="3" name="TextBox 2">
            <a:extLst>
              <a:ext uri="{FF2B5EF4-FFF2-40B4-BE49-F238E27FC236}">
                <a16:creationId xmlns:a16="http://schemas.microsoft.com/office/drawing/2014/main" id="{BE720464-CEE0-1E86-2401-2CC8413FE47D}"/>
              </a:ext>
            </a:extLst>
          </p:cNvPr>
          <p:cNvSpPr txBox="1"/>
          <p:nvPr/>
        </p:nvSpPr>
        <p:spPr>
          <a:xfrm>
            <a:off x="2368083" y="7161368"/>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2"/>
              </a:rPr>
              <a:t>Figure 1</a:t>
            </a:r>
            <a:endParaRPr lang="en-US" sz="1200" b="1" dirty="0">
              <a:latin typeface="Arial" panose="020B0604020202020204" pitchFamily="34" charset="0"/>
              <a:ea typeface="Roboto" panose="02000000000000000000" pitchFamily="2" charset="0"/>
              <a:cs typeface="Arial" panose="020B0604020202020204" pitchFamily="34" charset="0"/>
            </a:endParaRPr>
          </a:p>
        </p:txBody>
      </p:sp>
      <p:sp>
        <p:nvSpPr>
          <p:cNvPr id="4" name="Title 7">
            <a:extLst>
              <a:ext uri="{FF2B5EF4-FFF2-40B4-BE49-F238E27FC236}">
                <a16:creationId xmlns:a16="http://schemas.microsoft.com/office/drawing/2014/main" id="{C705D605-7ADD-4B02-E8FC-074D20C4CFF4}"/>
              </a:ext>
            </a:extLst>
          </p:cNvPr>
          <p:cNvSpPr txBox="1">
            <a:spLocks/>
          </p:cNvSpPr>
          <p:nvPr/>
        </p:nvSpPr>
        <p:spPr>
          <a:xfrm>
            <a:off x="0" y="0"/>
            <a:ext cx="7772400" cy="825227"/>
          </a:xfrm>
          <a:prstGeom prst="rect">
            <a:avLst/>
          </a:prstGeom>
          <a:solidFill>
            <a:schemeClr val="bg1">
              <a:lumMod val="75000"/>
            </a:schemeClr>
          </a:solidFill>
          <a:ln>
            <a:noFill/>
          </a:ln>
          <a:effectLst>
            <a:outerShdw blurRad="50800" dist="38100" dir="5400000" algn="t" rotWithShape="0">
              <a:prstClr val="black">
                <a:alpha val="40000"/>
              </a:prstClr>
            </a:outerShdw>
          </a:effectLst>
        </p:spPr>
        <p:txBody>
          <a:bodyPr>
            <a:noAutofit/>
          </a:bodyPr>
          <a:lst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a:lstStyle>
          <a:p>
            <a:endParaRPr lang="en-US" sz="2400" b="1" dirty="0">
              <a:solidFill>
                <a:srgbClr val="4666EF"/>
              </a:solidFill>
            </a:endParaRPr>
          </a:p>
          <a:p>
            <a:endParaRPr lang="en-US" sz="2400" b="1" dirty="0">
              <a:solidFill>
                <a:srgbClr val="4666EF"/>
              </a:solidFill>
            </a:endParaRPr>
          </a:p>
        </p:txBody>
      </p:sp>
      <p:sp>
        <p:nvSpPr>
          <p:cNvPr id="15" name="TextBox 14">
            <a:extLst>
              <a:ext uri="{FF2B5EF4-FFF2-40B4-BE49-F238E27FC236}">
                <a16:creationId xmlns:a16="http://schemas.microsoft.com/office/drawing/2014/main" id="{FDBDAFCB-AF33-FD20-C6E6-637F5A3A26EE}"/>
              </a:ext>
            </a:extLst>
          </p:cNvPr>
          <p:cNvSpPr txBox="1"/>
          <p:nvPr/>
        </p:nvSpPr>
        <p:spPr>
          <a:xfrm>
            <a:off x="196849" y="300371"/>
            <a:ext cx="1563968"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Lazarus Group</a:t>
            </a:r>
          </a:p>
        </p:txBody>
      </p:sp>
      <p:sp>
        <p:nvSpPr>
          <p:cNvPr id="18" name="TextBox 17">
            <a:extLst>
              <a:ext uri="{FF2B5EF4-FFF2-40B4-BE49-F238E27FC236}">
                <a16:creationId xmlns:a16="http://schemas.microsoft.com/office/drawing/2014/main" id="{53D50880-A865-72A8-3A7E-8949FF1303EB}"/>
              </a:ext>
            </a:extLst>
          </p:cNvPr>
          <p:cNvSpPr txBox="1"/>
          <p:nvPr/>
        </p:nvSpPr>
        <p:spPr>
          <a:xfrm>
            <a:off x="5321299" y="8913692"/>
            <a:ext cx="1993900" cy="246221"/>
          </a:xfrm>
          <a:prstGeom prst="rect">
            <a:avLst/>
          </a:prstGeom>
          <a:noFill/>
        </p:spPr>
        <p:txBody>
          <a:bodyPr wrap="square" lIns="0" rIns="0" rtlCol="0" anchor="ctr">
            <a:spAutoFit/>
          </a:bodyPr>
          <a:lstStyle/>
          <a:p>
            <a:pPr lvl="0" algn="r">
              <a:defRPr/>
            </a:pP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 </a:t>
            </a:r>
            <a:r>
              <a:rPr lang="en-US" sz="1000" b="1" dirty="0">
                <a:solidFill>
                  <a:schemeClr val="tx1">
                    <a:lumMod val="65000"/>
                    <a:lumOff val="35000"/>
                  </a:schemeClr>
                </a:solidFill>
                <a:latin typeface="Roboto" panose="02000000000000000000" pitchFamily="2" charset="0"/>
                <a:ea typeface="Roboto" panose="02000000000000000000" pitchFamily="2" charset="0"/>
                <a:cs typeface="Arial" panose="020B0604020202020204" pitchFamily="34" charset="0"/>
              </a:rPr>
              <a:t>Portfolio: github.com/dalhunter </a:t>
            </a: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a:t>
            </a:r>
            <a:endParaRPr lang="en-US" sz="1000" b="1" dirty="0">
              <a:solidFill>
                <a:schemeClr val="tx2"/>
              </a:solidFill>
              <a:latin typeface="Roboto" panose="02000000000000000000" pitchFamily="2" charset="0"/>
              <a:ea typeface="Roboto" panose="02000000000000000000" pitchFamily="2" charset="0"/>
              <a:cs typeface="Arial" panose="020B0604020202020204" pitchFamily="34" charset="0"/>
            </a:endParaRPr>
          </a:p>
        </p:txBody>
      </p:sp>
      <p:sp>
        <p:nvSpPr>
          <p:cNvPr id="22" name="TextBox 21">
            <a:extLst>
              <a:ext uri="{FF2B5EF4-FFF2-40B4-BE49-F238E27FC236}">
                <a16:creationId xmlns:a16="http://schemas.microsoft.com/office/drawing/2014/main" id="{E35C15DD-B142-929E-36B8-E04E570A22F1}"/>
              </a:ext>
            </a:extLst>
          </p:cNvPr>
          <p:cNvSpPr txBox="1"/>
          <p:nvPr/>
        </p:nvSpPr>
        <p:spPr>
          <a:xfrm>
            <a:off x="457200" y="9201528"/>
            <a:ext cx="6858000" cy="461665"/>
          </a:xfrm>
          <a:prstGeom prst="rect">
            <a:avLst/>
          </a:prstGeom>
          <a:noFill/>
        </p:spPr>
        <p:txBody>
          <a:bodyPr wrap="square" lIns="0" rIns="0" rtlCol="0">
            <a:spAutoFit/>
          </a:bodyPr>
          <a:lstStyle/>
          <a:p>
            <a:pPr algn="just"/>
            <a:r>
              <a:rPr lang="en-US" sz="800" i="0" dirty="0">
                <a:latin typeface="Roboto" panose="02000000000000000000" pitchFamily="2" charset="0"/>
                <a:ea typeface="Roboto" panose="02000000000000000000" pitchFamily="2" charset="0"/>
                <a:cs typeface="Arial" panose="020B0604020202020204" pitchFamily="34" charset="0"/>
              </a:rPr>
              <a:t>This document is intended for educational and portfolio purposes only. All information presented is derived from publicly available open-source intelligence (OSINT) sources, including surface web, technical intelligence feeds, and publicly accessible dark web resources used for security research and threat monitoring. No unauthorized access to private systems or non-public data was used in the creation of this report.</a:t>
            </a:r>
            <a:endParaRPr lang="en-US" sz="1000" i="0" dirty="0">
              <a:latin typeface="Roboto" panose="02000000000000000000" pitchFamily="2" charset="0"/>
              <a:ea typeface="Roboto" panose="02000000000000000000" pitchFamily="2" charset="0"/>
              <a:cs typeface="Arial" panose="020B0604020202020204" pitchFamily="34" charset="0"/>
            </a:endParaRPr>
          </a:p>
        </p:txBody>
      </p:sp>
      <p:pic>
        <p:nvPicPr>
          <p:cNvPr id="26" name="Picture 25">
            <a:extLst>
              <a:ext uri="{FF2B5EF4-FFF2-40B4-BE49-F238E27FC236}">
                <a16:creationId xmlns:a16="http://schemas.microsoft.com/office/drawing/2014/main" id="{0CA164EE-3D6C-5BB1-6B5C-70AF0F12E9FB}"/>
              </a:ext>
            </a:extLst>
          </p:cNvPr>
          <p:cNvPicPr>
            <a:picLocks noChangeAspect="1"/>
          </p:cNvPicPr>
          <p:nvPr/>
        </p:nvPicPr>
        <p:blipFill>
          <a:blip r:embed="rId3"/>
          <a:srcRect b="60340"/>
          <a:stretch>
            <a:fillRect/>
          </a:stretch>
        </p:blipFill>
        <p:spPr>
          <a:xfrm>
            <a:off x="966346" y="5569595"/>
            <a:ext cx="5839702" cy="1550158"/>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ADCC351D-EE2F-9664-68DC-27170C0633CC}"/>
              </a:ext>
            </a:extLst>
          </p:cNvPr>
          <p:cNvPicPr>
            <a:picLocks noChangeAspect="1"/>
          </p:cNvPicPr>
          <p:nvPr/>
        </p:nvPicPr>
        <p:blipFill>
          <a:blip r:embed="rId4"/>
          <a:stretch>
            <a:fillRect/>
          </a:stretch>
        </p:blipFill>
        <p:spPr>
          <a:xfrm>
            <a:off x="1083977" y="7607859"/>
            <a:ext cx="5604445" cy="776721"/>
          </a:xfrm>
          <a:prstGeom prst="rect">
            <a:avLst/>
          </a:prstGeom>
          <a:effectLst>
            <a:outerShdw blurRad="63500" sx="102000" sy="102000" algn="ctr" rotWithShape="0">
              <a:prstClr val="black">
                <a:alpha val="40000"/>
              </a:prstClr>
            </a:outerShdw>
          </a:effectLst>
        </p:spPr>
      </p:pic>
      <p:sp>
        <p:nvSpPr>
          <p:cNvPr id="9" name="TextBox 8">
            <a:extLst>
              <a:ext uri="{FF2B5EF4-FFF2-40B4-BE49-F238E27FC236}">
                <a16:creationId xmlns:a16="http://schemas.microsoft.com/office/drawing/2014/main" id="{4FF49819-A744-4BD8-F0AC-7E19B7E866DE}"/>
              </a:ext>
            </a:extLst>
          </p:cNvPr>
          <p:cNvSpPr txBox="1"/>
          <p:nvPr/>
        </p:nvSpPr>
        <p:spPr>
          <a:xfrm>
            <a:off x="2368083" y="8415572"/>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5"/>
              </a:rPr>
              <a:t>Figure 2</a:t>
            </a:r>
            <a:endParaRPr lang="en-US" sz="1200" b="1" dirty="0">
              <a:latin typeface="Arial" panose="020B0604020202020204" pitchFamily="34" charset="0"/>
              <a:ea typeface="Roboto" panose="02000000000000000000" pitchFamily="2" charset="0"/>
              <a:cs typeface="Arial" panose="020B0604020202020204" pitchFamily="34" charset="0"/>
            </a:endParaRPr>
          </a:p>
        </p:txBody>
      </p:sp>
      <p:sp>
        <p:nvSpPr>
          <p:cNvPr id="2" name="TextBox 2">
            <a:extLst>
              <a:ext uri="{FF2B5EF4-FFF2-40B4-BE49-F238E27FC236}">
                <a16:creationId xmlns:a16="http://schemas.microsoft.com/office/drawing/2014/main" id="{55FAE3EA-B699-7AEA-4178-293CF34A1379}"/>
              </a:ext>
            </a:extLst>
          </p:cNvPr>
          <p:cNvSpPr txBox="1"/>
          <p:nvPr/>
        </p:nvSpPr>
        <p:spPr>
          <a:xfrm>
            <a:off x="5459977" y="282677"/>
            <a:ext cx="2074161"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200" b="1" dirty="0">
                <a:latin typeface="Arial" panose="020B0604020202020204" pitchFamily="34" charset="0"/>
                <a:cs typeface="Arial" panose="020B0604020202020204" pitchFamily="34" charset="0"/>
              </a:rPr>
              <a:t>Threat Intelligence Report</a:t>
            </a:r>
          </a:p>
        </p:txBody>
      </p:sp>
    </p:spTree>
    <p:extLst>
      <p:ext uri="{BB962C8B-B14F-4D97-AF65-F5344CB8AC3E}">
        <p14:creationId xmlns:p14="http://schemas.microsoft.com/office/powerpoint/2010/main" val="3271110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B1D6C-5C9C-177C-CC09-569F5FE131D8}"/>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C827A9A6-44B6-F827-D4EA-78C22460E954}"/>
              </a:ext>
            </a:extLst>
          </p:cNvPr>
          <p:cNvSpPr txBox="1"/>
          <p:nvPr/>
        </p:nvSpPr>
        <p:spPr>
          <a:xfrm>
            <a:off x="457201" y="8913693"/>
            <a:ext cx="2661313" cy="246221"/>
          </a:xfrm>
          <a:prstGeom prst="rect">
            <a:avLst/>
          </a:prstGeom>
          <a:noFill/>
        </p:spPr>
        <p:txBody>
          <a:bodyPr wrap="square" lIns="0" rIns="0" rtlCol="0" anchor="ctr">
            <a:spAutoFit/>
          </a:bodyPr>
          <a:lstStyle/>
          <a:p>
            <a:pPr lvl="0">
              <a:defRPr/>
            </a:pPr>
            <a:r>
              <a:rPr lang="en-US" sz="1000" b="1" dirty="0">
                <a:solidFill>
                  <a:schemeClr val="tx1">
                    <a:lumMod val="65000"/>
                    <a:lumOff val="35000"/>
                  </a:schemeClr>
                </a:solidFill>
                <a:latin typeface="Arial" panose="020B0604020202020204" pitchFamily="34" charset="0"/>
                <a:ea typeface="Roboto" panose="02000000000000000000" pitchFamily="2" charset="0"/>
                <a:cs typeface="Arial" panose="020B0604020202020204" pitchFamily="34" charset="0"/>
              </a:rPr>
              <a:t>25APRIL2026</a:t>
            </a:r>
          </a:p>
        </p:txBody>
      </p:sp>
      <p:sp>
        <p:nvSpPr>
          <p:cNvPr id="3" name="TextBox 2">
            <a:extLst>
              <a:ext uri="{FF2B5EF4-FFF2-40B4-BE49-F238E27FC236}">
                <a16:creationId xmlns:a16="http://schemas.microsoft.com/office/drawing/2014/main" id="{2459502E-2344-038D-35CC-1C184913CA49}"/>
              </a:ext>
            </a:extLst>
          </p:cNvPr>
          <p:cNvSpPr txBox="1"/>
          <p:nvPr/>
        </p:nvSpPr>
        <p:spPr>
          <a:xfrm>
            <a:off x="2368086" y="8371575"/>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2"/>
              </a:rPr>
              <a:t>Figure 3</a:t>
            </a:r>
            <a:endParaRPr lang="en-US" sz="1200" b="1" dirty="0">
              <a:latin typeface="Arial" panose="020B0604020202020204" pitchFamily="34" charset="0"/>
              <a:ea typeface="Roboto" panose="02000000000000000000" pitchFamily="2" charset="0"/>
              <a:cs typeface="Arial" panose="020B0604020202020204" pitchFamily="34" charset="0"/>
            </a:endParaRPr>
          </a:p>
        </p:txBody>
      </p:sp>
      <p:sp>
        <p:nvSpPr>
          <p:cNvPr id="4" name="Title 7">
            <a:extLst>
              <a:ext uri="{FF2B5EF4-FFF2-40B4-BE49-F238E27FC236}">
                <a16:creationId xmlns:a16="http://schemas.microsoft.com/office/drawing/2014/main" id="{CE630986-AEDE-3619-C25F-9839D3B60803}"/>
              </a:ext>
            </a:extLst>
          </p:cNvPr>
          <p:cNvSpPr txBox="1">
            <a:spLocks/>
          </p:cNvSpPr>
          <p:nvPr/>
        </p:nvSpPr>
        <p:spPr>
          <a:xfrm>
            <a:off x="0" y="0"/>
            <a:ext cx="7772400" cy="825227"/>
          </a:xfrm>
          <a:prstGeom prst="rect">
            <a:avLst/>
          </a:prstGeom>
          <a:solidFill>
            <a:schemeClr val="bg1">
              <a:lumMod val="75000"/>
            </a:schemeClr>
          </a:solidFill>
          <a:ln>
            <a:noFill/>
          </a:ln>
          <a:effectLst>
            <a:outerShdw blurRad="50800" dist="38100" dir="5400000" algn="t" rotWithShape="0">
              <a:prstClr val="black">
                <a:alpha val="40000"/>
              </a:prstClr>
            </a:outerShdw>
          </a:effectLst>
        </p:spPr>
        <p:txBody>
          <a:bodyPr>
            <a:noAutofit/>
          </a:bodyPr>
          <a:lst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a:lstStyle>
          <a:p>
            <a:endParaRPr lang="en-US" sz="2400" b="1" dirty="0">
              <a:solidFill>
                <a:srgbClr val="4666EF"/>
              </a:solidFill>
            </a:endParaRPr>
          </a:p>
          <a:p>
            <a:endParaRPr lang="en-US" sz="2400" b="1" dirty="0">
              <a:solidFill>
                <a:srgbClr val="4666EF"/>
              </a:solidFill>
            </a:endParaRPr>
          </a:p>
        </p:txBody>
      </p:sp>
      <p:sp>
        <p:nvSpPr>
          <p:cNvPr id="15" name="TextBox 14">
            <a:extLst>
              <a:ext uri="{FF2B5EF4-FFF2-40B4-BE49-F238E27FC236}">
                <a16:creationId xmlns:a16="http://schemas.microsoft.com/office/drawing/2014/main" id="{CB8B6899-0C09-6E26-1B74-F9C81CB952E7}"/>
              </a:ext>
            </a:extLst>
          </p:cNvPr>
          <p:cNvSpPr txBox="1"/>
          <p:nvPr/>
        </p:nvSpPr>
        <p:spPr>
          <a:xfrm>
            <a:off x="196849" y="300371"/>
            <a:ext cx="1563968"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Lazarus Group</a:t>
            </a:r>
          </a:p>
        </p:txBody>
      </p:sp>
      <p:sp>
        <p:nvSpPr>
          <p:cNvPr id="18" name="TextBox 17">
            <a:extLst>
              <a:ext uri="{FF2B5EF4-FFF2-40B4-BE49-F238E27FC236}">
                <a16:creationId xmlns:a16="http://schemas.microsoft.com/office/drawing/2014/main" id="{E66E5010-AAC0-AD6A-EDBA-593068E59641}"/>
              </a:ext>
            </a:extLst>
          </p:cNvPr>
          <p:cNvSpPr txBox="1"/>
          <p:nvPr/>
        </p:nvSpPr>
        <p:spPr>
          <a:xfrm>
            <a:off x="5321299" y="8913692"/>
            <a:ext cx="1993900" cy="246221"/>
          </a:xfrm>
          <a:prstGeom prst="rect">
            <a:avLst/>
          </a:prstGeom>
          <a:noFill/>
        </p:spPr>
        <p:txBody>
          <a:bodyPr wrap="square" lIns="0" rIns="0" rtlCol="0" anchor="ctr">
            <a:spAutoFit/>
          </a:bodyPr>
          <a:lstStyle/>
          <a:p>
            <a:pPr lvl="0" algn="r">
              <a:defRPr/>
            </a:pP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 </a:t>
            </a:r>
            <a:r>
              <a:rPr lang="en-US" sz="1000" b="1" dirty="0">
                <a:solidFill>
                  <a:schemeClr val="tx1">
                    <a:lumMod val="65000"/>
                    <a:lumOff val="35000"/>
                  </a:schemeClr>
                </a:solidFill>
                <a:latin typeface="Roboto" panose="02000000000000000000" pitchFamily="2" charset="0"/>
                <a:ea typeface="Roboto" panose="02000000000000000000" pitchFamily="2" charset="0"/>
                <a:cs typeface="Arial" panose="020B0604020202020204" pitchFamily="34" charset="0"/>
              </a:rPr>
              <a:t>Portfolio: github.com/dalhunter </a:t>
            </a: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a:t>
            </a:r>
            <a:endParaRPr lang="en-US" sz="1000" b="1" dirty="0">
              <a:solidFill>
                <a:schemeClr val="tx2"/>
              </a:solidFill>
              <a:latin typeface="Roboto" panose="02000000000000000000" pitchFamily="2" charset="0"/>
              <a:ea typeface="Roboto" panose="02000000000000000000" pitchFamily="2" charset="0"/>
              <a:cs typeface="Arial" panose="020B0604020202020204" pitchFamily="34" charset="0"/>
            </a:endParaRPr>
          </a:p>
        </p:txBody>
      </p:sp>
      <p:sp>
        <p:nvSpPr>
          <p:cNvPr id="22" name="TextBox 21">
            <a:extLst>
              <a:ext uri="{FF2B5EF4-FFF2-40B4-BE49-F238E27FC236}">
                <a16:creationId xmlns:a16="http://schemas.microsoft.com/office/drawing/2014/main" id="{A6AA5E9F-4556-2943-A0EB-D408478913E4}"/>
              </a:ext>
            </a:extLst>
          </p:cNvPr>
          <p:cNvSpPr txBox="1"/>
          <p:nvPr/>
        </p:nvSpPr>
        <p:spPr>
          <a:xfrm>
            <a:off x="457200" y="9201528"/>
            <a:ext cx="6858000" cy="461665"/>
          </a:xfrm>
          <a:prstGeom prst="rect">
            <a:avLst/>
          </a:prstGeom>
          <a:noFill/>
        </p:spPr>
        <p:txBody>
          <a:bodyPr wrap="square" lIns="0" rIns="0" rtlCol="0">
            <a:spAutoFit/>
          </a:bodyPr>
          <a:lstStyle/>
          <a:p>
            <a:pPr algn="just"/>
            <a:r>
              <a:rPr lang="en-US" sz="800" i="0" dirty="0">
                <a:latin typeface="Roboto" panose="02000000000000000000" pitchFamily="2" charset="0"/>
                <a:ea typeface="Roboto" panose="02000000000000000000" pitchFamily="2" charset="0"/>
                <a:cs typeface="Arial" panose="020B0604020202020204" pitchFamily="34" charset="0"/>
              </a:rPr>
              <a:t>This document is intended for educational and portfolio purposes only. All information presented is derived from publicly available open-source intelligence (OSINT) sources, including surface web, technical intelligence feeds, and publicly accessible dark web resources used for security research and threat monitoring. No unauthorized access to private systems or non-public data was used in the creation of this report.</a:t>
            </a:r>
            <a:endParaRPr lang="en-US" sz="1000" i="0" dirty="0">
              <a:latin typeface="Roboto" panose="02000000000000000000" pitchFamily="2" charset="0"/>
              <a:ea typeface="Roboto" panose="02000000000000000000" pitchFamily="2" charset="0"/>
              <a:cs typeface="Arial" panose="020B0604020202020204" pitchFamily="34" charset="0"/>
            </a:endParaRPr>
          </a:p>
        </p:txBody>
      </p:sp>
      <p:pic>
        <p:nvPicPr>
          <p:cNvPr id="7" name="Picture 6">
            <a:extLst>
              <a:ext uri="{FF2B5EF4-FFF2-40B4-BE49-F238E27FC236}">
                <a16:creationId xmlns:a16="http://schemas.microsoft.com/office/drawing/2014/main" id="{5732AEE7-E349-FF83-CC88-65F090809631}"/>
              </a:ext>
            </a:extLst>
          </p:cNvPr>
          <p:cNvPicPr>
            <a:picLocks noChangeAspect="1"/>
          </p:cNvPicPr>
          <p:nvPr/>
        </p:nvPicPr>
        <p:blipFill>
          <a:blip r:embed="rId3"/>
          <a:stretch>
            <a:fillRect/>
          </a:stretch>
        </p:blipFill>
        <p:spPr>
          <a:xfrm>
            <a:off x="836462" y="1318586"/>
            <a:ext cx="6099476" cy="6964880"/>
          </a:xfrm>
          <a:prstGeom prst="rect">
            <a:avLst/>
          </a:prstGeom>
          <a:effectLst>
            <a:outerShdw blurRad="63500" sx="102000" sy="102000" algn="ctr" rotWithShape="0">
              <a:prstClr val="black">
                <a:alpha val="40000"/>
              </a:prstClr>
            </a:outerShdw>
          </a:effectLst>
        </p:spPr>
      </p:pic>
      <p:sp>
        <p:nvSpPr>
          <p:cNvPr id="2" name="TextBox 2">
            <a:extLst>
              <a:ext uri="{FF2B5EF4-FFF2-40B4-BE49-F238E27FC236}">
                <a16:creationId xmlns:a16="http://schemas.microsoft.com/office/drawing/2014/main" id="{6638161D-EAEF-ACD6-0384-44A6DDDE9EA2}"/>
              </a:ext>
            </a:extLst>
          </p:cNvPr>
          <p:cNvSpPr txBox="1"/>
          <p:nvPr/>
        </p:nvSpPr>
        <p:spPr>
          <a:xfrm>
            <a:off x="5459977" y="282677"/>
            <a:ext cx="2074161"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200" b="1" dirty="0">
                <a:latin typeface="Arial" panose="020B0604020202020204" pitchFamily="34" charset="0"/>
                <a:cs typeface="Arial" panose="020B0604020202020204" pitchFamily="34" charset="0"/>
              </a:rPr>
              <a:t>Threat Intelligence Report</a:t>
            </a:r>
          </a:p>
        </p:txBody>
      </p:sp>
    </p:spTree>
    <p:extLst>
      <p:ext uri="{BB962C8B-B14F-4D97-AF65-F5344CB8AC3E}">
        <p14:creationId xmlns:p14="http://schemas.microsoft.com/office/powerpoint/2010/main" val="3020525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70843-D079-1155-0043-BB108B3A5781}"/>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2CE3BB93-3461-21D5-9005-05944C803ED7}"/>
              </a:ext>
            </a:extLst>
          </p:cNvPr>
          <p:cNvSpPr txBox="1"/>
          <p:nvPr/>
        </p:nvSpPr>
        <p:spPr>
          <a:xfrm>
            <a:off x="457201" y="8913693"/>
            <a:ext cx="2661313" cy="246221"/>
          </a:xfrm>
          <a:prstGeom prst="rect">
            <a:avLst/>
          </a:prstGeom>
          <a:noFill/>
        </p:spPr>
        <p:txBody>
          <a:bodyPr wrap="square" lIns="0" rIns="0" rtlCol="0" anchor="ctr">
            <a:spAutoFit/>
          </a:bodyPr>
          <a:lstStyle/>
          <a:p>
            <a:pPr lvl="0">
              <a:defRPr/>
            </a:pPr>
            <a:r>
              <a:rPr lang="en-US" sz="1000" b="1" dirty="0">
                <a:solidFill>
                  <a:schemeClr val="tx1">
                    <a:lumMod val="65000"/>
                    <a:lumOff val="35000"/>
                  </a:schemeClr>
                </a:solidFill>
                <a:latin typeface="Arial" panose="020B0604020202020204" pitchFamily="34" charset="0"/>
                <a:ea typeface="Roboto" panose="02000000000000000000" pitchFamily="2" charset="0"/>
                <a:cs typeface="Arial" panose="020B0604020202020204" pitchFamily="34" charset="0"/>
              </a:rPr>
              <a:t>25APRIL2026</a:t>
            </a:r>
          </a:p>
        </p:txBody>
      </p:sp>
      <p:sp>
        <p:nvSpPr>
          <p:cNvPr id="5" name="Title 7">
            <a:extLst>
              <a:ext uri="{FF2B5EF4-FFF2-40B4-BE49-F238E27FC236}">
                <a16:creationId xmlns:a16="http://schemas.microsoft.com/office/drawing/2014/main" id="{8B9C8460-22B4-58E5-FE07-9F1C9D43CE1A}"/>
              </a:ext>
            </a:extLst>
          </p:cNvPr>
          <p:cNvSpPr txBox="1">
            <a:spLocks/>
          </p:cNvSpPr>
          <p:nvPr/>
        </p:nvSpPr>
        <p:spPr>
          <a:xfrm>
            <a:off x="0" y="0"/>
            <a:ext cx="7772400" cy="825227"/>
          </a:xfrm>
          <a:prstGeom prst="rect">
            <a:avLst/>
          </a:prstGeom>
          <a:solidFill>
            <a:schemeClr val="bg1">
              <a:lumMod val="75000"/>
            </a:schemeClr>
          </a:solidFill>
          <a:ln>
            <a:noFill/>
          </a:ln>
          <a:effectLst>
            <a:outerShdw blurRad="50800" dist="38100" dir="5400000" algn="t" rotWithShape="0">
              <a:prstClr val="black">
                <a:alpha val="40000"/>
              </a:prstClr>
            </a:outerShdw>
          </a:effectLst>
        </p:spPr>
        <p:txBody>
          <a:bodyPr>
            <a:noAutofit/>
          </a:bodyPr>
          <a:lst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a:lstStyle>
          <a:p>
            <a:endParaRPr lang="en-US" sz="2400" b="1" dirty="0">
              <a:solidFill>
                <a:srgbClr val="4666EF"/>
              </a:solidFill>
            </a:endParaRPr>
          </a:p>
          <a:p>
            <a:endParaRPr lang="en-US" sz="2400" b="1" dirty="0">
              <a:solidFill>
                <a:srgbClr val="4666EF"/>
              </a:solidFill>
            </a:endParaRPr>
          </a:p>
        </p:txBody>
      </p:sp>
      <p:sp>
        <p:nvSpPr>
          <p:cNvPr id="12" name="TextBox 11">
            <a:extLst>
              <a:ext uri="{FF2B5EF4-FFF2-40B4-BE49-F238E27FC236}">
                <a16:creationId xmlns:a16="http://schemas.microsoft.com/office/drawing/2014/main" id="{CB3FA366-F7F3-A561-CE1D-071635F74A28}"/>
              </a:ext>
            </a:extLst>
          </p:cNvPr>
          <p:cNvSpPr txBox="1"/>
          <p:nvPr/>
        </p:nvSpPr>
        <p:spPr>
          <a:xfrm>
            <a:off x="5321299" y="8913692"/>
            <a:ext cx="1993900" cy="246221"/>
          </a:xfrm>
          <a:prstGeom prst="rect">
            <a:avLst/>
          </a:prstGeom>
          <a:noFill/>
        </p:spPr>
        <p:txBody>
          <a:bodyPr wrap="square" lIns="0" rIns="0" rtlCol="0" anchor="ctr">
            <a:spAutoFit/>
          </a:bodyPr>
          <a:lstStyle/>
          <a:p>
            <a:pPr lvl="0" algn="r">
              <a:defRPr/>
            </a:pP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 </a:t>
            </a:r>
            <a:r>
              <a:rPr lang="en-US" sz="1000" b="1" dirty="0">
                <a:solidFill>
                  <a:schemeClr val="tx1">
                    <a:lumMod val="65000"/>
                    <a:lumOff val="35000"/>
                  </a:schemeClr>
                </a:solidFill>
                <a:latin typeface="Roboto" panose="02000000000000000000" pitchFamily="2" charset="0"/>
                <a:ea typeface="Roboto" panose="02000000000000000000" pitchFamily="2" charset="0"/>
                <a:cs typeface="Arial" panose="020B0604020202020204" pitchFamily="34" charset="0"/>
              </a:rPr>
              <a:t>Portfolio: github.com/dalhunter </a:t>
            </a: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a:t>
            </a:r>
            <a:endParaRPr lang="en-US" sz="1000" b="1" dirty="0">
              <a:solidFill>
                <a:schemeClr val="tx2"/>
              </a:solidFill>
              <a:latin typeface="Roboto" panose="02000000000000000000" pitchFamily="2" charset="0"/>
              <a:ea typeface="Roboto" panose="02000000000000000000" pitchFamily="2" charset="0"/>
              <a:cs typeface="Arial" panose="020B0604020202020204" pitchFamily="34" charset="0"/>
            </a:endParaRPr>
          </a:p>
        </p:txBody>
      </p:sp>
      <p:sp>
        <p:nvSpPr>
          <p:cNvPr id="13" name="TextBox 12">
            <a:extLst>
              <a:ext uri="{FF2B5EF4-FFF2-40B4-BE49-F238E27FC236}">
                <a16:creationId xmlns:a16="http://schemas.microsoft.com/office/drawing/2014/main" id="{9E72BF77-A170-F9E1-DC11-75562EB3DE10}"/>
              </a:ext>
            </a:extLst>
          </p:cNvPr>
          <p:cNvSpPr txBox="1"/>
          <p:nvPr/>
        </p:nvSpPr>
        <p:spPr>
          <a:xfrm>
            <a:off x="196849" y="300371"/>
            <a:ext cx="1563968"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Lazarus Group</a:t>
            </a:r>
          </a:p>
        </p:txBody>
      </p:sp>
      <p:sp>
        <p:nvSpPr>
          <p:cNvPr id="15" name="TextBox 14">
            <a:extLst>
              <a:ext uri="{FF2B5EF4-FFF2-40B4-BE49-F238E27FC236}">
                <a16:creationId xmlns:a16="http://schemas.microsoft.com/office/drawing/2014/main" id="{0B1B1A61-E1B3-1C4B-69A2-7FE5BBF45A55}"/>
              </a:ext>
            </a:extLst>
          </p:cNvPr>
          <p:cNvSpPr txBox="1"/>
          <p:nvPr/>
        </p:nvSpPr>
        <p:spPr>
          <a:xfrm>
            <a:off x="457200" y="9201528"/>
            <a:ext cx="6858000" cy="461665"/>
          </a:xfrm>
          <a:prstGeom prst="rect">
            <a:avLst/>
          </a:prstGeom>
          <a:noFill/>
        </p:spPr>
        <p:txBody>
          <a:bodyPr wrap="square" lIns="0" rIns="0" rtlCol="0">
            <a:spAutoFit/>
          </a:bodyPr>
          <a:lstStyle/>
          <a:p>
            <a:pPr algn="just"/>
            <a:r>
              <a:rPr lang="en-US" sz="800" i="0" dirty="0">
                <a:latin typeface="Roboto" panose="02000000000000000000" pitchFamily="2" charset="0"/>
                <a:ea typeface="Roboto" panose="02000000000000000000" pitchFamily="2" charset="0"/>
                <a:cs typeface="Arial" panose="020B0604020202020204" pitchFamily="34" charset="0"/>
              </a:rPr>
              <a:t>This document is intended for educational and portfolio purposes only. All information presented is derived from publicly available open-source intelligence (OSINT) sources, including surface web, technical intelligence feeds, and publicly accessible dark web resources used for security research and threat monitoring. No unauthorized access to private systems or non-public data was used in the creation of this report.</a:t>
            </a:r>
            <a:endParaRPr lang="en-US" sz="1000" i="0" dirty="0">
              <a:latin typeface="Roboto" panose="02000000000000000000" pitchFamily="2" charset="0"/>
              <a:ea typeface="Roboto" panose="02000000000000000000" pitchFamily="2" charset="0"/>
              <a:cs typeface="Arial" panose="020B0604020202020204" pitchFamily="34" charset="0"/>
            </a:endParaRPr>
          </a:p>
        </p:txBody>
      </p:sp>
      <p:sp>
        <p:nvSpPr>
          <p:cNvPr id="17" name="TextBox 16">
            <a:extLst>
              <a:ext uri="{FF2B5EF4-FFF2-40B4-BE49-F238E27FC236}">
                <a16:creationId xmlns:a16="http://schemas.microsoft.com/office/drawing/2014/main" id="{B31C5FD8-4779-EDD5-584F-97028C89C0DB}"/>
              </a:ext>
            </a:extLst>
          </p:cNvPr>
          <p:cNvSpPr txBox="1"/>
          <p:nvPr/>
        </p:nvSpPr>
        <p:spPr>
          <a:xfrm>
            <a:off x="196849" y="977843"/>
            <a:ext cx="7283747" cy="2754600"/>
          </a:xfrm>
          <a:prstGeom prst="rect">
            <a:avLst/>
          </a:prstGeom>
          <a:noFill/>
        </p:spPr>
        <p:txBody>
          <a:bodyPr wrap="square" rtlCol="0">
            <a:spAutoFit/>
          </a:bodyPr>
          <a:lstStyle/>
          <a:p>
            <a:pPr algn="l"/>
            <a:r>
              <a:rPr lang="en-US" sz="1400" b="1" u="sng" dirty="0">
                <a:latin typeface="Arial" panose="020B0604020202020204" pitchFamily="34" charset="0"/>
                <a:ea typeface="Roboto" panose="02000000000000000000" pitchFamily="2" charset="0"/>
                <a:cs typeface="Arial" panose="020B0604020202020204" pitchFamily="34" charset="0"/>
              </a:rPr>
              <a:t>Section 2: Targeting &amp; Victimology</a:t>
            </a:r>
          </a:p>
          <a:p>
            <a:pPr marL="171450" indent="-171450">
              <a:spcAft>
                <a:spcPts val="900"/>
              </a:spcAft>
              <a:buFont typeface="Arial" panose="020B0604020202020204" pitchFamily="34" charset="0"/>
              <a:buChar char="•"/>
            </a:pPr>
            <a:r>
              <a:rPr lang="en-US" sz="1200" dirty="0">
                <a:latin typeface="Arial" panose="020B0604020202020204" pitchFamily="34" charset="0"/>
                <a:cs typeface="Arial" panose="020B0604020202020204" pitchFamily="34" charset="0"/>
              </a:rPr>
              <a:t>Lazarus Group selects targets based on financial value and strategic intelligence gain, focusing on organizations who yield either monetary profit or sensitive information. </a:t>
            </a:r>
            <a:r>
              <a:rPr lang="en-US" sz="1200" b="1" dirty="0">
                <a:latin typeface="Arial" panose="020B0604020202020204" pitchFamily="34" charset="0"/>
                <a:cs typeface="Arial" panose="020B0604020202020204" pitchFamily="34" charset="0"/>
              </a:rPr>
              <a:t>(Figures 4 - 5)</a:t>
            </a:r>
            <a:endParaRPr lang="en-US" sz="1200"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	Primary Targets:</a:t>
            </a:r>
            <a:endParaRPr lang="en-US" sz="1200" dirty="0">
              <a:latin typeface="Arial" panose="020B0604020202020204" pitchFamily="34" charset="0"/>
              <a:cs typeface="Arial" panose="020B0604020202020204" pitchFamily="34" charset="0"/>
            </a:endParaRP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Cryptocurrency exchanges &amp; wallets </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Global banking infrastructure (SWIFT-related systems) </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Defense contractors &amp; aerospace organizations </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Government agencies </a:t>
            </a:r>
          </a:p>
          <a:p>
            <a:pPr marL="1085850" lvl="2" indent="-171450">
              <a:spcAft>
                <a:spcPts val="900"/>
              </a:spcAft>
              <a:buFont typeface="Arial" panose="020B0604020202020204" pitchFamily="34" charset="0"/>
              <a:buChar char="•"/>
            </a:pPr>
            <a:r>
              <a:rPr lang="en-US" sz="1200" dirty="0">
                <a:latin typeface="Arial" panose="020B0604020202020204" pitchFamily="34" charset="0"/>
                <a:cs typeface="Arial" panose="020B0604020202020204" pitchFamily="34" charset="0"/>
              </a:rPr>
              <a:t>Media / entertainment sector </a:t>
            </a:r>
          </a:p>
          <a:p>
            <a:r>
              <a:rPr lang="en-US" sz="1200" b="1" dirty="0">
                <a:latin typeface="Arial" panose="020B0604020202020204" pitchFamily="34" charset="0"/>
                <a:cs typeface="Arial" panose="020B0604020202020204" pitchFamily="34" charset="0"/>
              </a:rPr>
              <a:t>	Victimology Pattern:</a:t>
            </a:r>
            <a:endParaRPr lang="en-US" sz="1200" dirty="0">
              <a:latin typeface="Arial" panose="020B0604020202020204" pitchFamily="34" charset="0"/>
              <a:cs typeface="Arial" panose="020B0604020202020204" pitchFamily="34" charset="0"/>
            </a:endParaRP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High-value financial systems </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Organizations with sensitive intelligence value </a:t>
            </a:r>
          </a:p>
          <a:p>
            <a:pPr marL="1085850" lvl="2"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Crypto platforms with weak operational security</a:t>
            </a:r>
          </a:p>
        </p:txBody>
      </p:sp>
      <p:sp>
        <p:nvSpPr>
          <p:cNvPr id="25" name="TextBox 24">
            <a:extLst>
              <a:ext uri="{FF2B5EF4-FFF2-40B4-BE49-F238E27FC236}">
                <a16:creationId xmlns:a16="http://schemas.microsoft.com/office/drawing/2014/main" id="{7C570189-203E-BD24-5F38-E0C9AF8A6F2E}"/>
              </a:ext>
            </a:extLst>
          </p:cNvPr>
          <p:cNvSpPr txBox="1"/>
          <p:nvPr/>
        </p:nvSpPr>
        <p:spPr>
          <a:xfrm>
            <a:off x="2368084" y="8233220"/>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2"/>
              </a:rPr>
              <a:t>Figure 5</a:t>
            </a:r>
            <a:endParaRPr lang="en-US" sz="1200" b="1" dirty="0">
              <a:latin typeface="Arial" panose="020B0604020202020204" pitchFamily="34" charset="0"/>
              <a:ea typeface="Roboto" panose="02000000000000000000" pitchFamily="2" charset="0"/>
              <a:cs typeface="Arial" panose="020B0604020202020204" pitchFamily="34" charset="0"/>
            </a:endParaRPr>
          </a:p>
        </p:txBody>
      </p:sp>
      <p:pic>
        <p:nvPicPr>
          <p:cNvPr id="3" name="Picture 2">
            <a:extLst>
              <a:ext uri="{FF2B5EF4-FFF2-40B4-BE49-F238E27FC236}">
                <a16:creationId xmlns:a16="http://schemas.microsoft.com/office/drawing/2014/main" id="{2FED8546-514B-DDEA-5622-3E0059BC4C9F}"/>
              </a:ext>
            </a:extLst>
          </p:cNvPr>
          <p:cNvPicPr>
            <a:picLocks noChangeAspect="1"/>
          </p:cNvPicPr>
          <p:nvPr/>
        </p:nvPicPr>
        <p:blipFill>
          <a:blip r:embed="rId3"/>
          <a:stretch>
            <a:fillRect/>
          </a:stretch>
        </p:blipFill>
        <p:spPr>
          <a:xfrm>
            <a:off x="2533491" y="3924083"/>
            <a:ext cx="2705414" cy="2328615"/>
          </a:xfrm>
          <a:prstGeom prst="rect">
            <a:avLst/>
          </a:prstGeom>
          <a:effectLst>
            <a:outerShdw blurRad="63500" sx="102000" sy="102000" algn="ctr" rotWithShape="0">
              <a:prstClr val="black">
                <a:alpha val="40000"/>
              </a:prstClr>
            </a:outerShdw>
          </a:effectLst>
        </p:spPr>
      </p:pic>
      <p:sp>
        <p:nvSpPr>
          <p:cNvPr id="4" name="TextBox 3">
            <a:extLst>
              <a:ext uri="{FF2B5EF4-FFF2-40B4-BE49-F238E27FC236}">
                <a16:creationId xmlns:a16="http://schemas.microsoft.com/office/drawing/2014/main" id="{7051A8AF-E108-DC00-820D-706C9AFC8149}"/>
              </a:ext>
            </a:extLst>
          </p:cNvPr>
          <p:cNvSpPr txBox="1"/>
          <p:nvPr/>
        </p:nvSpPr>
        <p:spPr>
          <a:xfrm>
            <a:off x="2368084" y="6294312"/>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4"/>
              </a:rPr>
              <a:t>Figure 4</a:t>
            </a:r>
            <a:endParaRPr lang="en-US" sz="1200" b="1" dirty="0">
              <a:latin typeface="Arial" panose="020B0604020202020204" pitchFamily="34" charset="0"/>
              <a:ea typeface="Roboto" panose="02000000000000000000" pitchFamily="2" charset="0"/>
              <a:cs typeface="Arial" panose="020B0604020202020204" pitchFamily="34" charset="0"/>
            </a:endParaRPr>
          </a:p>
        </p:txBody>
      </p:sp>
      <p:pic>
        <p:nvPicPr>
          <p:cNvPr id="11" name="Picture 10">
            <a:extLst>
              <a:ext uri="{FF2B5EF4-FFF2-40B4-BE49-F238E27FC236}">
                <a16:creationId xmlns:a16="http://schemas.microsoft.com/office/drawing/2014/main" id="{E992BC6E-5B96-DC7B-2732-A472230B81D7}"/>
              </a:ext>
            </a:extLst>
          </p:cNvPr>
          <p:cNvPicPr>
            <a:picLocks noChangeAspect="1"/>
          </p:cNvPicPr>
          <p:nvPr/>
        </p:nvPicPr>
        <p:blipFill>
          <a:blip r:embed="rId5"/>
          <a:stretch>
            <a:fillRect/>
          </a:stretch>
        </p:blipFill>
        <p:spPr>
          <a:xfrm>
            <a:off x="771525" y="6767916"/>
            <a:ext cx="6229350" cy="1422954"/>
          </a:xfrm>
          <a:prstGeom prst="rect">
            <a:avLst/>
          </a:prstGeom>
          <a:effectLst>
            <a:outerShdw blurRad="63500" sx="102000" sy="102000" algn="ctr" rotWithShape="0">
              <a:prstClr val="black">
                <a:alpha val="40000"/>
              </a:prstClr>
            </a:outerShdw>
          </a:effectLst>
        </p:spPr>
      </p:pic>
      <p:sp>
        <p:nvSpPr>
          <p:cNvPr id="2" name="TextBox 2">
            <a:extLst>
              <a:ext uri="{FF2B5EF4-FFF2-40B4-BE49-F238E27FC236}">
                <a16:creationId xmlns:a16="http://schemas.microsoft.com/office/drawing/2014/main" id="{D0B8E0D4-9A42-F936-E9C8-CA1C31B746BE}"/>
              </a:ext>
            </a:extLst>
          </p:cNvPr>
          <p:cNvSpPr txBox="1"/>
          <p:nvPr/>
        </p:nvSpPr>
        <p:spPr>
          <a:xfrm>
            <a:off x="5459977" y="282677"/>
            <a:ext cx="2074161"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200" b="1" dirty="0">
                <a:latin typeface="Arial" panose="020B0604020202020204" pitchFamily="34" charset="0"/>
                <a:cs typeface="Arial" panose="020B0604020202020204" pitchFamily="34" charset="0"/>
              </a:rPr>
              <a:t>Threat Intelligence Report</a:t>
            </a:r>
          </a:p>
        </p:txBody>
      </p:sp>
    </p:spTree>
    <p:extLst>
      <p:ext uri="{BB962C8B-B14F-4D97-AF65-F5344CB8AC3E}">
        <p14:creationId xmlns:p14="http://schemas.microsoft.com/office/powerpoint/2010/main" val="651109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EBC20-8E84-D3D9-9011-EC67A6F00636}"/>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7E72BE81-9626-BF14-F0AB-C1919C4D933F}"/>
              </a:ext>
            </a:extLst>
          </p:cNvPr>
          <p:cNvSpPr txBox="1"/>
          <p:nvPr/>
        </p:nvSpPr>
        <p:spPr>
          <a:xfrm>
            <a:off x="457201" y="8913693"/>
            <a:ext cx="2661313" cy="246221"/>
          </a:xfrm>
          <a:prstGeom prst="rect">
            <a:avLst/>
          </a:prstGeom>
          <a:noFill/>
        </p:spPr>
        <p:txBody>
          <a:bodyPr wrap="square" lIns="0" rIns="0" rtlCol="0" anchor="ctr">
            <a:spAutoFit/>
          </a:bodyPr>
          <a:lstStyle/>
          <a:p>
            <a:pPr lvl="0">
              <a:defRPr/>
            </a:pPr>
            <a:r>
              <a:rPr lang="en-US" sz="1000" b="1" dirty="0">
                <a:solidFill>
                  <a:schemeClr val="tx1">
                    <a:lumMod val="65000"/>
                    <a:lumOff val="35000"/>
                  </a:schemeClr>
                </a:solidFill>
                <a:latin typeface="Arial" panose="020B0604020202020204" pitchFamily="34" charset="0"/>
                <a:ea typeface="Roboto" panose="02000000000000000000" pitchFamily="2" charset="0"/>
                <a:cs typeface="Arial" panose="020B0604020202020204" pitchFamily="34" charset="0"/>
              </a:rPr>
              <a:t>25APRIL2026</a:t>
            </a:r>
          </a:p>
        </p:txBody>
      </p:sp>
      <p:sp>
        <p:nvSpPr>
          <p:cNvPr id="7" name="TextBox 6">
            <a:extLst>
              <a:ext uri="{FF2B5EF4-FFF2-40B4-BE49-F238E27FC236}">
                <a16:creationId xmlns:a16="http://schemas.microsoft.com/office/drawing/2014/main" id="{69FFE1F2-103E-856B-E2A1-665E873C99A8}"/>
              </a:ext>
            </a:extLst>
          </p:cNvPr>
          <p:cNvSpPr txBox="1"/>
          <p:nvPr/>
        </p:nvSpPr>
        <p:spPr>
          <a:xfrm>
            <a:off x="2368085" y="7278701"/>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2"/>
              </a:rPr>
              <a:t>Figure 6</a:t>
            </a:r>
            <a:endParaRPr lang="en-US" sz="1200" b="1" dirty="0">
              <a:latin typeface="Arial" panose="020B0604020202020204" pitchFamily="34" charset="0"/>
              <a:ea typeface="Roboto" panose="02000000000000000000" pitchFamily="2" charset="0"/>
              <a:cs typeface="Arial" panose="020B0604020202020204" pitchFamily="34" charset="0"/>
            </a:endParaRPr>
          </a:p>
        </p:txBody>
      </p:sp>
      <p:sp>
        <p:nvSpPr>
          <p:cNvPr id="5" name="Title 7">
            <a:extLst>
              <a:ext uri="{FF2B5EF4-FFF2-40B4-BE49-F238E27FC236}">
                <a16:creationId xmlns:a16="http://schemas.microsoft.com/office/drawing/2014/main" id="{E6DCB4A2-8AFA-C77D-9041-BC6079871FB0}"/>
              </a:ext>
            </a:extLst>
          </p:cNvPr>
          <p:cNvSpPr txBox="1">
            <a:spLocks/>
          </p:cNvSpPr>
          <p:nvPr/>
        </p:nvSpPr>
        <p:spPr>
          <a:xfrm>
            <a:off x="0" y="0"/>
            <a:ext cx="7772400" cy="825227"/>
          </a:xfrm>
          <a:prstGeom prst="rect">
            <a:avLst/>
          </a:prstGeom>
          <a:solidFill>
            <a:schemeClr val="bg1">
              <a:lumMod val="75000"/>
            </a:schemeClr>
          </a:solidFill>
          <a:ln>
            <a:noFill/>
          </a:ln>
          <a:effectLst>
            <a:outerShdw blurRad="50800" dist="38100" dir="5400000" algn="t" rotWithShape="0">
              <a:prstClr val="black">
                <a:alpha val="40000"/>
              </a:prstClr>
            </a:outerShdw>
          </a:effectLst>
        </p:spPr>
        <p:txBody>
          <a:bodyPr>
            <a:noAutofit/>
          </a:bodyPr>
          <a:lst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a:lstStyle>
          <a:p>
            <a:endParaRPr lang="en-US" sz="2400" b="1" dirty="0">
              <a:solidFill>
                <a:srgbClr val="4666EF"/>
              </a:solidFill>
            </a:endParaRPr>
          </a:p>
          <a:p>
            <a:endParaRPr lang="en-US" sz="2400" b="1" dirty="0">
              <a:solidFill>
                <a:srgbClr val="4666EF"/>
              </a:solidFill>
            </a:endParaRPr>
          </a:p>
        </p:txBody>
      </p:sp>
      <p:sp>
        <p:nvSpPr>
          <p:cNvPr id="12" name="TextBox 11">
            <a:extLst>
              <a:ext uri="{FF2B5EF4-FFF2-40B4-BE49-F238E27FC236}">
                <a16:creationId xmlns:a16="http://schemas.microsoft.com/office/drawing/2014/main" id="{F6EE53FD-CFAE-4CB3-297A-4C2D3D9F255D}"/>
              </a:ext>
            </a:extLst>
          </p:cNvPr>
          <p:cNvSpPr txBox="1"/>
          <p:nvPr/>
        </p:nvSpPr>
        <p:spPr>
          <a:xfrm>
            <a:off x="5321299" y="8913692"/>
            <a:ext cx="1993900" cy="246221"/>
          </a:xfrm>
          <a:prstGeom prst="rect">
            <a:avLst/>
          </a:prstGeom>
          <a:noFill/>
        </p:spPr>
        <p:txBody>
          <a:bodyPr wrap="square" lIns="0" rIns="0" rtlCol="0" anchor="ctr">
            <a:spAutoFit/>
          </a:bodyPr>
          <a:lstStyle/>
          <a:p>
            <a:pPr lvl="0" algn="r">
              <a:defRPr/>
            </a:pP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 </a:t>
            </a:r>
            <a:r>
              <a:rPr lang="en-US" sz="1000" b="1" dirty="0">
                <a:solidFill>
                  <a:schemeClr val="tx1">
                    <a:lumMod val="65000"/>
                    <a:lumOff val="35000"/>
                  </a:schemeClr>
                </a:solidFill>
                <a:latin typeface="Roboto" panose="02000000000000000000" pitchFamily="2" charset="0"/>
                <a:ea typeface="Roboto" panose="02000000000000000000" pitchFamily="2" charset="0"/>
                <a:cs typeface="Arial" panose="020B0604020202020204" pitchFamily="34" charset="0"/>
              </a:rPr>
              <a:t>Portfolio: github.com/dalhunter </a:t>
            </a: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a:t>
            </a:r>
            <a:endParaRPr lang="en-US" sz="1000" b="1" dirty="0">
              <a:solidFill>
                <a:schemeClr val="tx2"/>
              </a:solidFill>
              <a:latin typeface="Roboto" panose="02000000000000000000" pitchFamily="2" charset="0"/>
              <a:ea typeface="Roboto" panose="02000000000000000000" pitchFamily="2" charset="0"/>
              <a:cs typeface="Arial" panose="020B0604020202020204" pitchFamily="34" charset="0"/>
            </a:endParaRPr>
          </a:p>
        </p:txBody>
      </p:sp>
      <p:sp>
        <p:nvSpPr>
          <p:cNvPr id="13" name="TextBox 12">
            <a:extLst>
              <a:ext uri="{FF2B5EF4-FFF2-40B4-BE49-F238E27FC236}">
                <a16:creationId xmlns:a16="http://schemas.microsoft.com/office/drawing/2014/main" id="{60FBA192-6E83-1BFB-6D07-FEEBEFF0D452}"/>
              </a:ext>
            </a:extLst>
          </p:cNvPr>
          <p:cNvSpPr txBox="1"/>
          <p:nvPr/>
        </p:nvSpPr>
        <p:spPr>
          <a:xfrm>
            <a:off x="196849" y="300371"/>
            <a:ext cx="1563968"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Lazarus Group</a:t>
            </a:r>
          </a:p>
        </p:txBody>
      </p:sp>
      <p:sp>
        <p:nvSpPr>
          <p:cNvPr id="15" name="TextBox 14">
            <a:extLst>
              <a:ext uri="{FF2B5EF4-FFF2-40B4-BE49-F238E27FC236}">
                <a16:creationId xmlns:a16="http://schemas.microsoft.com/office/drawing/2014/main" id="{38E6B2A9-2D53-7A62-75D4-EE03CDA73177}"/>
              </a:ext>
            </a:extLst>
          </p:cNvPr>
          <p:cNvSpPr txBox="1"/>
          <p:nvPr/>
        </p:nvSpPr>
        <p:spPr>
          <a:xfrm>
            <a:off x="457200" y="9201528"/>
            <a:ext cx="6858000" cy="461665"/>
          </a:xfrm>
          <a:prstGeom prst="rect">
            <a:avLst/>
          </a:prstGeom>
          <a:noFill/>
        </p:spPr>
        <p:txBody>
          <a:bodyPr wrap="square" lIns="0" rIns="0" rtlCol="0">
            <a:spAutoFit/>
          </a:bodyPr>
          <a:lstStyle/>
          <a:p>
            <a:pPr algn="just"/>
            <a:r>
              <a:rPr lang="en-US" sz="800" i="0" dirty="0">
                <a:latin typeface="Roboto" panose="02000000000000000000" pitchFamily="2" charset="0"/>
                <a:ea typeface="Roboto" panose="02000000000000000000" pitchFamily="2" charset="0"/>
                <a:cs typeface="Arial" panose="020B0604020202020204" pitchFamily="34" charset="0"/>
              </a:rPr>
              <a:t>This document is intended for educational and portfolio purposes only. All information presented is derived from publicly available open-source intelligence (OSINT) sources, including surface web, technical intelligence feeds, and publicly accessible dark web resources used for security research and threat monitoring. No unauthorized access to private systems or non-public data was used in the creation of this report.</a:t>
            </a:r>
            <a:endParaRPr lang="en-US" sz="1000" i="0" dirty="0">
              <a:latin typeface="Roboto" panose="02000000000000000000" pitchFamily="2" charset="0"/>
              <a:ea typeface="Roboto" panose="02000000000000000000" pitchFamily="2" charset="0"/>
              <a:cs typeface="Arial" panose="020B0604020202020204" pitchFamily="34" charset="0"/>
            </a:endParaRPr>
          </a:p>
        </p:txBody>
      </p:sp>
      <p:sp>
        <p:nvSpPr>
          <p:cNvPr id="2" name="TextBox 1">
            <a:extLst>
              <a:ext uri="{FF2B5EF4-FFF2-40B4-BE49-F238E27FC236}">
                <a16:creationId xmlns:a16="http://schemas.microsoft.com/office/drawing/2014/main" id="{E330B3A3-3F3F-101B-176C-2887BE92F294}"/>
              </a:ext>
            </a:extLst>
          </p:cNvPr>
          <p:cNvSpPr txBox="1"/>
          <p:nvPr/>
        </p:nvSpPr>
        <p:spPr>
          <a:xfrm>
            <a:off x="196849" y="976345"/>
            <a:ext cx="7042091" cy="5509200"/>
          </a:xfrm>
          <a:prstGeom prst="rect">
            <a:avLst/>
          </a:prstGeom>
          <a:noFill/>
        </p:spPr>
        <p:txBody>
          <a:bodyPr wrap="square" rtlCol="0">
            <a:spAutoFit/>
          </a:bodyPr>
          <a:lstStyle/>
          <a:p>
            <a:pPr algn="l"/>
            <a:r>
              <a:rPr lang="en-US" sz="1400" b="1" u="sng" dirty="0">
                <a:latin typeface="Arial" panose="020B0604020202020204" pitchFamily="34" charset="0"/>
                <a:ea typeface="Roboto" panose="02000000000000000000" pitchFamily="2" charset="0"/>
                <a:cs typeface="Arial" panose="020B0604020202020204" pitchFamily="34" charset="0"/>
              </a:rPr>
              <a:t>Section 3: Tactics, Techniques, and Procedures (TTPs)</a:t>
            </a:r>
          </a:p>
          <a:p>
            <a:pPr marL="171450" indent="-171450">
              <a:spcAft>
                <a:spcPts val="900"/>
              </a:spcAft>
              <a:buFont typeface="Arial" panose="020B0604020202020204" pitchFamily="34" charset="0"/>
              <a:buChar char="•"/>
            </a:pPr>
            <a:r>
              <a:rPr lang="en-US" sz="1200" dirty="0">
                <a:latin typeface="Arial" panose="020B0604020202020204" pitchFamily="34" charset="0"/>
                <a:cs typeface="Arial" panose="020B0604020202020204" pitchFamily="34" charset="0"/>
              </a:rPr>
              <a:t>Lazarus Group uses various phishing, malware, and stealth techniques to break into systems, stay hidden, and steal data. </a:t>
            </a:r>
          </a:p>
          <a:p>
            <a:r>
              <a:rPr lang="en-US" sz="1200" b="1" dirty="0">
                <a:latin typeface="Arial" panose="020B0604020202020204" pitchFamily="34" charset="0"/>
                <a:cs typeface="Arial" panose="020B0604020202020204" pitchFamily="34" charset="0"/>
              </a:rPr>
              <a:t>	Initial Access (</a:t>
            </a:r>
            <a:r>
              <a:rPr lang="en-US" sz="1200" b="1" dirty="0">
                <a:solidFill>
                  <a:schemeClr val="accent1"/>
                </a:solidFill>
                <a:latin typeface="Arial" panose="020B0604020202020204" pitchFamily="34" charset="0"/>
                <a:cs typeface="Arial" panose="020B0604020202020204" pitchFamily="34" charset="0"/>
              </a:rPr>
              <a:t>getting in</a:t>
            </a:r>
            <a:r>
              <a:rPr lang="en-US" sz="1200" b="1"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Spearphishing (</a:t>
            </a:r>
            <a:r>
              <a:rPr lang="en-US" sz="1200" dirty="0">
                <a:solidFill>
                  <a:srgbClr val="FF0000"/>
                </a:solidFill>
                <a:latin typeface="Arial" panose="020B0604020202020204" pitchFamily="34" charset="0"/>
                <a:cs typeface="Arial" panose="020B0604020202020204" pitchFamily="34" charset="0"/>
              </a:rPr>
              <a:t>T1566</a:t>
            </a:r>
            <a:r>
              <a:rPr lang="en-US" sz="1200" dirty="0">
                <a:latin typeface="Arial" panose="020B0604020202020204" pitchFamily="34" charset="0"/>
                <a:cs typeface="Arial" panose="020B0604020202020204" pitchFamily="34" charset="0"/>
              </a:rPr>
              <a:t>), Malicious Attachments </a:t>
            </a:r>
            <a:r>
              <a:rPr lang="en-US" sz="1200" b="1" dirty="0">
                <a:latin typeface="Arial" panose="020B0604020202020204" pitchFamily="34" charset="0"/>
                <a:cs typeface="Arial" panose="020B0604020202020204" pitchFamily="34" charset="0"/>
              </a:rPr>
              <a:t>(Figure 6)</a:t>
            </a:r>
            <a:endParaRPr lang="en-US" sz="1200" dirty="0">
              <a:latin typeface="Arial" panose="020B0604020202020204" pitchFamily="34" charset="0"/>
              <a:cs typeface="Arial" panose="020B0604020202020204" pitchFamily="34" charset="0"/>
            </a:endParaRPr>
          </a:p>
          <a:p>
            <a:pPr marL="1085850" lvl="2" indent="-171450">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They trick users into opening fake emails or files to gain access. </a:t>
            </a:r>
          </a:p>
          <a:p>
            <a:r>
              <a:rPr lang="en-US" sz="1200" b="1" dirty="0">
                <a:latin typeface="Arial" panose="020B0604020202020204" pitchFamily="34" charset="0"/>
                <a:cs typeface="Arial" panose="020B0604020202020204" pitchFamily="34" charset="0"/>
              </a:rPr>
              <a:t>	Execution (</a:t>
            </a:r>
            <a:r>
              <a:rPr lang="en-US" sz="1200" b="1" dirty="0">
                <a:solidFill>
                  <a:schemeClr val="accent1"/>
                </a:solidFill>
                <a:latin typeface="Arial" panose="020B0604020202020204" pitchFamily="34" charset="0"/>
                <a:cs typeface="Arial" panose="020B0604020202020204" pitchFamily="34" charset="0"/>
              </a:rPr>
              <a:t>running commands</a:t>
            </a:r>
            <a:r>
              <a:rPr lang="en-US" sz="1200" b="1"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PowerShell (</a:t>
            </a:r>
            <a:r>
              <a:rPr lang="en-US" sz="1200" dirty="0">
                <a:solidFill>
                  <a:srgbClr val="FF0000"/>
                </a:solidFill>
                <a:latin typeface="Arial" panose="020B0604020202020204" pitchFamily="34" charset="0"/>
                <a:cs typeface="Arial" panose="020B0604020202020204" pitchFamily="34" charset="0"/>
              </a:rPr>
              <a:t>T1059.001</a:t>
            </a:r>
            <a:r>
              <a:rPr lang="en-US" sz="1200" dirty="0">
                <a:latin typeface="Arial" panose="020B0604020202020204" pitchFamily="34" charset="0"/>
                <a:cs typeface="Arial" panose="020B0604020202020204" pitchFamily="34" charset="0"/>
              </a:rPr>
              <a:t>), Command Shell (</a:t>
            </a:r>
            <a:r>
              <a:rPr lang="en-US" sz="1200" dirty="0">
                <a:solidFill>
                  <a:srgbClr val="FF0000"/>
                </a:solidFill>
                <a:latin typeface="Arial" panose="020B0604020202020204" pitchFamily="34" charset="0"/>
                <a:cs typeface="Arial" panose="020B0604020202020204" pitchFamily="34" charset="0"/>
              </a:rPr>
              <a:t>T1059.003</a:t>
            </a:r>
            <a:r>
              <a:rPr lang="en-US" sz="1200" dirty="0">
                <a:latin typeface="Arial" panose="020B0604020202020204" pitchFamily="34" charset="0"/>
                <a:cs typeface="Arial" panose="020B0604020202020204" pitchFamily="34" charset="0"/>
              </a:rPr>
              <a:t>)</a:t>
            </a:r>
          </a:p>
          <a:p>
            <a:pPr marL="1085850" lvl="2" indent="-171450">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They run malicious commands using Windows tools. </a:t>
            </a:r>
          </a:p>
          <a:p>
            <a:r>
              <a:rPr lang="en-US" sz="1200" b="1" dirty="0">
                <a:latin typeface="Arial" panose="020B0604020202020204" pitchFamily="34" charset="0"/>
                <a:cs typeface="Arial" panose="020B0604020202020204" pitchFamily="34" charset="0"/>
              </a:rPr>
              <a:t>	Persistence (</a:t>
            </a:r>
            <a:r>
              <a:rPr lang="en-US" sz="1200" b="1" dirty="0">
                <a:solidFill>
                  <a:schemeClr val="accent1"/>
                </a:solidFill>
                <a:latin typeface="Arial" panose="020B0604020202020204" pitchFamily="34" charset="0"/>
                <a:cs typeface="Arial" panose="020B0604020202020204" pitchFamily="34" charset="0"/>
              </a:rPr>
              <a:t>staying inside</a:t>
            </a:r>
            <a:r>
              <a:rPr lang="en-US" sz="1200" b="1"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Registry Run Keys (</a:t>
            </a:r>
            <a:r>
              <a:rPr lang="en-US" sz="1200" dirty="0">
                <a:solidFill>
                  <a:srgbClr val="FF0000"/>
                </a:solidFill>
                <a:latin typeface="Arial" panose="020B0604020202020204" pitchFamily="34" charset="0"/>
                <a:cs typeface="Arial" panose="020B0604020202020204" pitchFamily="34" charset="0"/>
              </a:rPr>
              <a:t>T1547</a:t>
            </a:r>
            <a:r>
              <a:rPr lang="en-US" sz="1200" dirty="0">
                <a:latin typeface="Arial" panose="020B0604020202020204" pitchFamily="34" charset="0"/>
                <a:cs typeface="Arial" panose="020B0604020202020204" pitchFamily="34" charset="0"/>
              </a:rPr>
              <a:t>), Scheduled Tasks (</a:t>
            </a:r>
            <a:r>
              <a:rPr lang="en-US" sz="1200" dirty="0">
                <a:solidFill>
                  <a:srgbClr val="FF0000"/>
                </a:solidFill>
                <a:latin typeface="Arial" panose="020B0604020202020204" pitchFamily="34" charset="0"/>
                <a:cs typeface="Arial" panose="020B0604020202020204" pitchFamily="34" charset="0"/>
              </a:rPr>
              <a:t>T1053</a:t>
            </a:r>
            <a:r>
              <a:rPr lang="en-US" sz="1200" dirty="0">
                <a:latin typeface="Arial" panose="020B0604020202020204" pitchFamily="34" charset="0"/>
                <a:cs typeface="Arial" panose="020B0604020202020204" pitchFamily="34" charset="0"/>
              </a:rPr>
              <a:t>)</a:t>
            </a:r>
          </a:p>
          <a:p>
            <a:pPr marL="1085850" lvl="2" indent="-171450">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They make malware start automatically on reboot. </a:t>
            </a:r>
          </a:p>
          <a:p>
            <a:r>
              <a:rPr lang="en-US" sz="1200" b="1" dirty="0">
                <a:latin typeface="Arial" panose="020B0604020202020204" pitchFamily="34" charset="0"/>
                <a:cs typeface="Arial" panose="020B0604020202020204" pitchFamily="34" charset="0"/>
              </a:rPr>
              <a:t>	Credential Access (</a:t>
            </a:r>
            <a:r>
              <a:rPr lang="en-US" sz="1200" b="1" dirty="0">
                <a:solidFill>
                  <a:schemeClr val="accent1"/>
                </a:solidFill>
                <a:latin typeface="Arial" panose="020B0604020202020204" pitchFamily="34" charset="0"/>
                <a:cs typeface="Arial" panose="020B0604020202020204" pitchFamily="34" charset="0"/>
              </a:rPr>
              <a:t>stealing logins</a:t>
            </a:r>
            <a:r>
              <a:rPr lang="en-US" sz="1200" b="1"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Credential Dumping (</a:t>
            </a:r>
            <a:r>
              <a:rPr lang="en-US" sz="1200" dirty="0">
                <a:solidFill>
                  <a:srgbClr val="FF0000"/>
                </a:solidFill>
                <a:latin typeface="Arial" panose="020B0604020202020204" pitchFamily="34" charset="0"/>
                <a:cs typeface="Arial" panose="020B0604020202020204" pitchFamily="34" charset="0"/>
              </a:rPr>
              <a:t>T1003</a:t>
            </a:r>
            <a:r>
              <a:rPr lang="en-US" sz="1200" dirty="0">
                <a:latin typeface="Arial" panose="020B0604020202020204" pitchFamily="34" charset="0"/>
                <a:cs typeface="Arial" panose="020B0604020202020204" pitchFamily="34" charset="0"/>
              </a:rPr>
              <a:t>)</a:t>
            </a:r>
          </a:p>
          <a:p>
            <a:pPr marL="1085850" lvl="2" indent="-171450">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They steal usernames and passwords from infected systems. </a:t>
            </a:r>
          </a:p>
          <a:p>
            <a:r>
              <a:rPr lang="en-US" sz="1200" b="1" dirty="0">
                <a:latin typeface="Arial" panose="020B0604020202020204" pitchFamily="34" charset="0"/>
                <a:cs typeface="Arial" panose="020B0604020202020204" pitchFamily="34" charset="0"/>
              </a:rPr>
              <a:t>	Defense Evasion (</a:t>
            </a:r>
            <a:r>
              <a:rPr lang="en-US" sz="1200" b="1" dirty="0">
                <a:solidFill>
                  <a:schemeClr val="accent1"/>
                </a:solidFill>
                <a:latin typeface="Arial" panose="020B0604020202020204" pitchFamily="34" charset="0"/>
                <a:cs typeface="Arial" panose="020B0604020202020204" pitchFamily="34" charset="0"/>
              </a:rPr>
              <a:t>hiding activity</a:t>
            </a:r>
            <a:r>
              <a:rPr lang="en-US" sz="1200" b="1"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Obfuscated Files (</a:t>
            </a:r>
            <a:r>
              <a:rPr lang="en-US" sz="1200" dirty="0">
                <a:solidFill>
                  <a:srgbClr val="FF0000"/>
                </a:solidFill>
                <a:latin typeface="Arial" panose="020B0604020202020204" pitchFamily="34" charset="0"/>
                <a:cs typeface="Arial" panose="020B0604020202020204" pitchFamily="34" charset="0"/>
              </a:rPr>
              <a:t>T1027</a:t>
            </a:r>
            <a:r>
              <a:rPr lang="en-US" sz="1200" dirty="0">
                <a:latin typeface="Arial" panose="020B0604020202020204" pitchFamily="34" charset="0"/>
                <a:cs typeface="Arial" panose="020B0604020202020204" pitchFamily="34" charset="0"/>
              </a:rPr>
              <a:t>), Timestomping (</a:t>
            </a:r>
            <a:r>
              <a:rPr lang="en-US" sz="1200" dirty="0">
                <a:solidFill>
                  <a:srgbClr val="FF0000"/>
                </a:solidFill>
                <a:latin typeface="Arial" panose="020B0604020202020204" pitchFamily="34" charset="0"/>
                <a:cs typeface="Arial" panose="020B0604020202020204" pitchFamily="34" charset="0"/>
              </a:rPr>
              <a:t>T1070.006</a:t>
            </a:r>
            <a:r>
              <a:rPr lang="en-US" sz="1200" dirty="0">
                <a:latin typeface="Arial" panose="020B0604020202020204" pitchFamily="34" charset="0"/>
                <a:cs typeface="Arial" panose="020B0604020202020204" pitchFamily="34" charset="0"/>
              </a:rPr>
              <a:t>)</a:t>
            </a:r>
          </a:p>
          <a:p>
            <a:pPr marL="1085850" lvl="2" indent="-171450">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They hide malware and make files look normal.</a:t>
            </a:r>
          </a:p>
          <a:p>
            <a:r>
              <a:rPr lang="en-US" sz="1200" b="1" dirty="0">
                <a:latin typeface="Arial" panose="020B0604020202020204" pitchFamily="34" charset="0"/>
                <a:cs typeface="Arial" panose="020B0604020202020204" pitchFamily="34" charset="0"/>
              </a:rPr>
              <a:t>	Lateral Movement (</a:t>
            </a:r>
            <a:r>
              <a:rPr lang="en-US" sz="1200" b="1" dirty="0">
                <a:solidFill>
                  <a:schemeClr val="accent1"/>
                </a:solidFill>
                <a:latin typeface="Arial" panose="020B0604020202020204" pitchFamily="34" charset="0"/>
                <a:cs typeface="Arial" panose="020B0604020202020204" pitchFamily="34" charset="0"/>
              </a:rPr>
              <a:t>moving across systems</a:t>
            </a:r>
            <a:r>
              <a:rPr lang="en-US" sz="1200" b="1"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SMB (</a:t>
            </a:r>
            <a:r>
              <a:rPr lang="en-US" sz="1200" dirty="0">
                <a:solidFill>
                  <a:srgbClr val="FF0000"/>
                </a:solidFill>
                <a:latin typeface="Arial" panose="020B0604020202020204" pitchFamily="34" charset="0"/>
                <a:cs typeface="Arial" panose="020B0604020202020204" pitchFamily="34" charset="0"/>
              </a:rPr>
              <a:t>T1021.002</a:t>
            </a:r>
            <a:r>
              <a:rPr lang="en-US" sz="1200" dirty="0">
                <a:latin typeface="Arial" panose="020B0604020202020204" pitchFamily="34" charset="0"/>
                <a:cs typeface="Arial" panose="020B0604020202020204" pitchFamily="34" charset="0"/>
              </a:rPr>
              <a:t>), RDP (</a:t>
            </a:r>
            <a:r>
              <a:rPr lang="en-US" sz="1200" dirty="0">
                <a:solidFill>
                  <a:srgbClr val="FF0000"/>
                </a:solidFill>
                <a:latin typeface="Arial" panose="020B0604020202020204" pitchFamily="34" charset="0"/>
                <a:cs typeface="Arial" panose="020B0604020202020204" pitchFamily="34" charset="0"/>
              </a:rPr>
              <a:t>T1021.001</a:t>
            </a:r>
            <a:r>
              <a:rPr lang="en-US" sz="1200" dirty="0">
                <a:latin typeface="Arial" panose="020B0604020202020204" pitchFamily="34" charset="0"/>
                <a:cs typeface="Arial" panose="020B0604020202020204" pitchFamily="34" charset="0"/>
              </a:rPr>
              <a:t>)</a:t>
            </a:r>
          </a:p>
          <a:p>
            <a:pPr marL="1085850" lvl="2" indent="-171450">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They spread to other computers in the network.</a:t>
            </a:r>
          </a:p>
          <a:p>
            <a:r>
              <a:rPr lang="en-US" sz="1200" b="1" dirty="0">
                <a:latin typeface="Arial" panose="020B0604020202020204" pitchFamily="34" charset="0"/>
                <a:cs typeface="Arial" panose="020B0604020202020204" pitchFamily="34" charset="0"/>
              </a:rPr>
              <a:t>	Command &amp; Control (</a:t>
            </a:r>
            <a:r>
              <a:rPr lang="en-US" sz="1200" b="1" dirty="0">
                <a:solidFill>
                  <a:schemeClr val="accent1"/>
                </a:solidFill>
                <a:latin typeface="Arial" panose="020B0604020202020204" pitchFamily="34" charset="0"/>
                <a:cs typeface="Arial" panose="020B0604020202020204" pitchFamily="34" charset="0"/>
              </a:rPr>
              <a:t>remote control</a:t>
            </a:r>
            <a:r>
              <a:rPr lang="en-US" sz="1200" b="1"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HTTPS (</a:t>
            </a:r>
            <a:r>
              <a:rPr lang="en-US" sz="1200" dirty="0">
                <a:solidFill>
                  <a:srgbClr val="FF0000"/>
                </a:solidFill>
                <a:latin typeface="Arial" panose="020B0604020202020204" pitchFamily="34" charset="0"/>
                <a:cs typeface="Arial" panose="020B0604020202020204" pitchFamily="34" charset="0"/>
              </a:rPr>
              <a:t>T1071</a:t>
            </a:r>
            <a:r>
              <a:rPr lang="en-US" sz="1200" dirty="0">
                <a:latin typeface="Arial" panose="020B0604020202020204" pitchFamily="34" charset="0"/>
                <a:cs typeface="Arial" panose="020B0604020202020204" pitchFamily="34" charset="0"/>
              </a:rPr>
              <a:t>), Encrypted channels</a:t>
            </a:r>
          </a:p>
          <a:p>
            <a:pPr marL="1085850" lvl="2" indent="-171450">
              <a:spcAft>
                <a:spcPts val="600"/>
              </a:spcAft>
              <a:buFont typeface="Arial" panose="020B0604020202020204" pitchFamily="34" charset="0"/>
              <a:buChar char="•"/>
            </a:pPr>
            <a:r>
              <a:rPr lang="en-US" sz="1200" dirty="0">
                <a:latin typeface="Arial" panose="020B0604020202020204" pitchFamily="34" charset="0"/>
                <a:cs typeface="Arial" panose="020B0604020202020204" pitchFamily="34" charset="0"/>
              </a:rPr>
              <a:t>They control infected systems over hidden connections. </a:t>
            </a:r>
          </a:p>
          <a:p>
            <a:r>
              <a:rPr lang="en-US" sz="1200" b="1" dirty="0">
                <a:latin typeface="Arial" panose="020B0604020202020204" pitchFamily="34" charset="0"/>
                <a:cs typeface="Arial" panose="020B0604020202020204" pitchFamily="34" charset="0"/>
              </a:rPr>
              <a:t>	Exfiltration (</a:t>
            </a:r>
            <a:r>
              <a:rPr lang="en-US" sz="1200" b="1" dirty="0">
                <a:solidFill>
                  <a:schemeClr val="accent1"/>
                </a:solidFill>
                <a:latin typeface="Arial" panose="020B0604020202020204" pitchFamily="34" charset="0"/>
                <a:cs typeface="Arial" panose="020B0604020202020204" pitchFamily="34" charset="0"/>
              </a:rPr>
              <a:t>stealing data</a:t>
            </a:r>
            <a:r>
              <a:rPr lang="en-US" sz="1200" b="1"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Over C2 channel (</a:t>
            </a:r>
            <a:r>
              <a:rPr lang="en-US" sz="1200" dirty="0">
                <a:solidFill>
                  <a:srgbClr val="FF0000"/>
                </a:solidFill>
                <a:latin typeface="Arial" panose="020B0604020202020204" pitchFamily="34" charset="0"/>
                <a:cs typeface="Arial" panose="020B0604020202020204" pitchFamily="34" charset="0"/>
              </a:rPr>
              <a:t>T1041</a:t>
            </a:r>
            <a:r>
              <a:rPr lang="en-US" sz="1200" dirty="0">
                <a:latin typeface="Arial" panose="020B0604020202020204" pitchFamily="34" charset="0"/>
                <a:cs typeface="Arial" panose="020B0604020202020204" pitchFamily="34" charset="0"/>
              </a:rPr>
              <a:t>), Cloud services</a:t>
            </a:r>
          </a:p>
          <a:p>
            <a:pPr marL="1085850" lvl="2" indent="-171450">
              <a:spcAft>
                <a:spcPts val="900"/>
              </a:spcAft>
              <a:buFont typeface="Arial" panose="020B0604020202020204" pitchFamily="34" charset="0"/>
              <a:buChar char="•"/>
            </a:pPr>
            <a:r>
              <a:rPr lang="en-US" sz="1200" dirty="0">
                <a:latin typeface="Arial" panose="020B0604020202020204" pitchFamily="34" charset="0"/>
                <a:cs typeface="Arial" panose="020B0604020202020204" pitchFamily="34" charset="0"/>
              </a:rPr>
              <a:t>They send stolen data back to themselves.</a:t>
            </a:r>
          </a:p>
          <a:p>
            <a:pPr marL="171450" indent="-171450">
              <a:spcAft>
                <a:spcPts val="600"/>
              </a:spcAft>
              <a:buFont typeface="Arial" panose="020B0604020202020204" pitchFamily="34" charset="0"/>
              <a:buChar char="•"/>
            </a:pPr>
            <a:r>
              <a:rPr lang="en-US" sz="1200" b="1" u="sng" dirty="0">
                <a:solidFill>
                  <a:schemeClr val="tx1">
                    <a:lumMod val="50000"/>
                    <a:lumOff val="50000"/>
                  </a:schemeClr>
                </a:solidFill>
                <a:latin typeface="Arial" panose="020B0604020202020204" pitchFamily="34" charset="0"/>
                <a:ea typeface="Roboto" panose="02000000000000000000" pitchFamily="2" charset="0"/>
                <a:cs typeface="Arial" panose="020B0604020202020204" pitchFamily="34" charset="0"/>
              </a:rPr>
              <a:t>Analyst Comments</a:t>
            </a:r>
            <a:r>
              <a:rPr lang="en-US" sz="1200" b="1" dirty="0">
                <a:solidFill>
                  <a:schemeClr val="tx1">
                    <a:lumMod val="50000"/>
                    <a:lumOff val="50000"/>
                  </a:schemeClr>
                </a:solidFill>
                <a:latin typeface="Arial" panose="020B0604020202020204" pitchFamily="34" charset="0"/>
                <a:ea typeface="Roboto" panose="02000000000000000000" pitchFamily="2" charset="0"/>
                <a:cs typeface="Arial" panose="020B0604020202020204" pitchFamily="34" charset="0"/>
              </a:rPr>
              <a:t>: </a:t>
            </a:r>
            <a:r>
              <a:rPr lang="en-US" sz="1200" dirty="0">
                <a:solidFill>
                  <a:schemeClr val="tx1">
                    <a:lumMod val="50000"/>
                    <a:lumOff val="50000"/>
                  </a:schemeClr>
                </a:solidFill>
                <a:latin typeface="Arial" panose="020B0604020202020204" pitchFamily="34" charset="0"/>
                <a:ea typeface="Roboto" panose="02000000000000000000" pitchFamily="2" charset="0"/>
                <a:cs typeface="Arial" panose="020B0604020202020204" pitchFamily="34" charset="0"/>
              </a:rPr>
              <a:t>L</a:t>
            </a:r>
            <a:r>
              <a:rPr lang="en-US" sz="1200" dirty="0">
                <a:solidFill>
                  <a:schemeClr val="tx1">
                    <a:lumMod val="50000"/>
                    <a:lumOff val="50000"/>
                  </a:schemeClr>
                </a:solidFill>
                <a:latin typeface="Arial" panose="020B0604020202020204" pitchFamily="34" charset="0"/>
                <a:cs typeface="Arial" panose="020B0604020202020204" pitchFamily="34" charset="0"/>
              </a:rPr>
              <a:t>azarus Group uses legitimate Windows tools such as Remote Desktop Protocol (RDP) and Server Message Block (SMB) to move within compromised networks while blending in with normal admin activity. This approach is typically used after initial access has been gained to reduce detection and maintain persistence. In contrast, initial compromise is often achieved through malicious software or social engineering techniques designed to gain entry and deploy malware. </a:t>
            </a:r>
            <a:r>
              <a:rPr lang="en-US" sz="1200" b="1" dirty="0">
                <a:latin typeface="Arial" panose="020B0604020202020204" pitchFamily="34" charset="0"/>
                <a:cs typeface="Arial" panose="020B0604020202020204" pitchFamily="34" charset="0"/>
              </a:rPr>
              <a:t>(Figure 7)</a:t>
            </a:r>
            <a:endParaRPr lang="en-US" sz="1200"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D9726163-9E57-3F32-70BA-18916F50A08B}"/>
              </a:ext>
            </a:extLst>
          </p:cNvPr>
          <p:cNvPicPr>
            <a:picLocks noChangeAspect="1"/>
          </p:cNvPicPr>
          <p:nvPr/>
        </p:nvPicPr>
        <p:blipFill>
          <a:blip r:embed="rId3"/>
          <a:srcRect b="57376"/>
          <a:stretch>
            <a:fillRect/>
          </a:stretch>
        </p:blipFill>
        <p:spPr>
          <a:xfrm>
            <a:off x="857281" y="6550763"/>
            <a:ext cx="6057832" cy="687374"/>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AF527CB3-A996-6558-B355-240529B37644}"/>
              </a:ext>
            </a:extLst>
          </p:cNvPr>
          <p:cNvPicPr>
            <a:picLocks noChangeAspect="1"/>
          </p:cNvPicPr>
          <p:nvPr/>
        </p:nvPicPr>
        <p:blipFill>
          <a:blip r:embed="rId4"/>
          <a:stretch>
            <a:fillRect/>
          </a:stretch>
        </p:blipFill>
        <p:spPr>
          <a:xfrm>
            <a:off x="498030" y="7632951"/>
            <a:ext cx="6776334" cy="839956"/>
          </a:xfrm>
          <a:prstGeom prst="rect">
            <a:avLst/>
          </a:prstGeom>
          <a:effectLst>
            <a:outerShdw blurRad="63500" sx="102000" sy="102000" algn="ctr" rotWithShape="0">
              <a:prstClr val="black">
                <a:alpha val="40000"/>
              </a:prstClr>
            </a:outerShdw>
          </a:effectLst>
        </p:spPr>
      </p:pic>
      <p:sp>
        <p:nvSpPr>
          <p:cNvPr id="6" name="TextBox 5">
            <a:extLst>
              <a:ext uri="{FF2B5EF4-FFF2-40B4-BE49-F238E27FC236}">
                <a16:creationId xmlns:a16="http://schemas.microsoft.com/office/drawing/2014/main" id="{C8BA1235-51D8-6448-2AE8-AED80EF304FC}"/>
              </a:ext>
            </a:extLst>
          </p:cNvPr>
          <p:cNvSpPr txBox="1"/>
          <p:nvPr/>
        </p:nvSpPr>
        <p:spPr>
          <a:xfrm>
            <a:off x="2368083" y="8477386"/>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5"/>
              </a:rPr>
              <a:t>Figure 7</a:t>
            </a:r>
            <a:endParaRPr lang="en-US" sz="1200" b="1" dirty="0">
              <a:latin typeface="Arial" panose="020B0604020202020204" pitchFamily="34" charset="0"/>
              <a:ea typeface="Roboto" panose="02000000000000000000" pitchFamily="2" charset="0"/>
              <a:cs typeface="Arial" panose="020B0604020202020204" pitchFamily="34" charset="0"/>
            </a:endParaRPr>
          </a:p>
        </p:txBody>
      </p:sp>
      <p:sp>
        <p:nvSpPr>
          <p:cNvPr id="3" name="TextBox 2">
            <a:extLst>
              <a:ext uri="{FF2B5EF4-FFF2-40B4-BE49-F238E27FC236}">
                <a16:creationId xmlns:a16="http://schemas.microsoft.com/office/drawing/2014/main" id="{54831ACC-2BE1-D2AB-D1C4-2373C986940F}"/>
              </a:ext>
            </a:extLst>
          </p:cNvPr>
          <p:cNvSpPr txBox="1"/>
          <p:nvPr/>
        </p:nvSpPr>
        <p:spPr>
          <a:xfrm>
            <a:off x="5459977" y="282677"/>
            <a:ext cx="2074161"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200" b="1" dirty="0">
                <a:latin typeface="Arial" panose="020B0604020202020204" pitchFamily="34" charset="0"/>
                <a:cs typeface="Arial" panose="020B0604020202020204" pitchFamily="34" charset="0"/>
              </a:rPr>
              <a:t>Threat Intelligence Report</a:t>
            </a:r>
          </a:p>
        </p:txBody>
      </p:sp>
    </p:spTree>
    <p:extLst>
      <p:ext uri="{BB962C8B-B14F-4D97-AF65-F5344CB8AC3E}">
        <p14:creationId xmlns:p14="http://schemas.microsoft.com/office/powerpoint/2010/main" val="2895219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042E1-931B-D840-0190-57CA4532A013}"/>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B4B5B4FD-C802-A31A-C35F-23A8A4A34DFE}"/>
              </a:ext>
            </a:extLst>
          </p:cNvPr>
          <p:cNvSpPr txBox="1"/>
          <p:nvPr/>
        </p:nvSpPr>
        <p:spPr>
          <a:xfrm>
            <a:off x="457201" y="8913693"/>
            <a:ext cx="2661313" cy="246221"/>
          </a:xfrm>
          <a:prstGeom prst="rect">
            <a:avLst/>
          </a:prstGeom>
          <a:noFill/>
        </p:spPr>
        <p:txBody>
          <a:bodyPr wrap="square" lIns="0" rIns="0" rtlCol="0" anchor="ctr">
            <a:spAutoFit/>
          </a:bodyPr>
          <a:lstStyle/>
          <a:p>
            <a:pPr lvl="0">
              <a:defRPr/>
            </a:pPr>
            <a:r>
              <a:rPr lang="en-US" sz="1000" b="1" dirty="0">
                <a:solidFill>
                  <a:schemeClr val="tx1">
                    <a:lumMod val="65000"/>
                    <a:lumOff val="35000"/>
                  </a:schemeClr>
                </a:solidFill>
                <a:latin typeface="Arial" panose="020B0604020202020204" pitchFamily="34" charset="0"/>
                <a:ea typeface="Roboto" panose="02000000000000000000" pitchFamily="2" charset="0"/>
                <a:cs typeface="Arial" panose="020B0604020202020204" pitchFamily="34" charset="0"/>
              </a:rPr>
              <a:t>25APRIL2026</a:t>
            </a:r>
          </a:p>
        </p:txBody>
      </p:sp>
      <p:sp>
        <p:nvSpPr>
          <p:cNvPr id="5" name="TextBox 4">
            <a:extLst>
              <a:ext uri="{FF2B5EF4-FFF2-40B4-BE49-F238E27FC236}">
                <a16:creationId xmlns:a16="http://schemas.microsoft.com/office/drawing/2014/main" id="{CBBA3365-2406-A5DC-5667-50E0B48BDA5D}"/>
              </a:ext>
            </a:extLst>
          </p:cNvPr>
          <p:cNvSpPr txBox="1"/>
          <p:nvPr/>
        </p:nvSpPr>
        <p:spPr>
          <a:xfrm>
            <a:off x="-204784" y="8464173"/>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2"/>
              </a:rPr>
              <a:t>Figure 8</a:t>
            </a:r>
            <a:endParaRPr lang="en-US" sz="1200" b="1" dirty="0">
              <a:latin typeface="Arial" panose="020B0604020202020204" pitchFamily="34" charset="0"/>
              <a:ea typeface="Roboto" panose="02000000000000000000" pitchFamily="2" charset="0"/>
              <a:cs typeface="Arial" panose="020B0604020202020204" pitchFamily="34" charset="0"/>
            </a:endParaRPr>
          </a:p>
        </p:txBody>
      </p:sp>
      <p:sp>
        <p:nvSpPr>
          <p:cNvPr id="6" name="Title 7">
            <a:extLst>
              <a:ext uri="{FF2B5EF4-FFF2-40B4-BE49-F238E27FC236}">
                <a16:creationId xmlns:a16="http://schemas.microsoft.com/office/drawing/2014/main" id="{08463C6B-DEDB-19A6-918D-65BFA255E5F7}"/>
              </a:ext>
            </a:extLst>
          </p:cNvPr>
          <p:cNvSpPr txBox="1">
            <a:spLocks/>
          </p:cNvSpPr>
          <p:nvPr/>
        </p:nvSpPr>
        <p:spPr>
          <a:xfrm>
            <a:off x="0" y="0"/>
            <a:ext cx="7772400" cy="825227"/>
          </a:xfrm>
          <a:prstGeom prst="rect">
            <a:avLst/>
          </a:prstGeom>
          <a:solidFill>
            <a:schemeClr val="bg1">
              <a:lumMod val="75000"/>
            </a:schemeClr>
          </a:solidFill>
          <a:ln>
            <a:noFill/>
          </a:ln>
          <a:effectLst>
            <a:outerShdw blurRad="50800" dist="38100" dir="5400000" algn="t" rotWithShape="0">
              <a:prstClr val="black">
                <a:alpha val="40000"/>
              </a:prstClr>
            </a:outerShdw>
          </a:effectLst>
        </p:spPr>
        <p:txBody>
          <a:bodyPr>
            <a:noAutofit/>
          </a:bodyPr>
          <a:lst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a:lstStyle>
          <a:p>
            <a:endParaRPr lang="en-US" sz="2400" b="1" dirty="0">
              <a:solidFill>
                <a:srgbClr val="4666EF"/>
              </a:solidFill>
            </a:endParaRPr>
          </a:p>
          <a:p>
            <a:endParaRPr lang="en-US" sz="2400" b="1" dirty="0">
              <a:solidFill>
                <a:srgbClr val="4666EF"/>
              </a:solidFill>
            </a:endParaRPr>
          </a:p>
        </p:txBody>
      </p:sp>
      <p:sp>
        <p:nvSpPr>
          <p:cNvPr id="7" name="TextBox 6">
            <a:extLst>
              <a:ext uri="{FF2B5EF4-FFF2-40B4-BE49-F238E27FC236}">
                <a16:creationId xmlns:a16="http://schemas.microsoft.com/office/drawing/2014/main" id="{2A36C36B-60CC-71F5-545B-0831CC6746E1}"/>
              </a:ext>
            </a:extLst>
          </p:cNvPr>
          <p:cNvSpPr txBox="1"/>
          <p:nvPr/>
        </p:nvSpPr>
        <p:spPr>
          <a:xfrm>
            <a:off x="196849" y="300371"/>
            <a:ext cx="1563968"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Lazarus Group</a:t>
            </a:r>
          </a:p>
        </p:txBody>
      </p:sp>
      <p:sp>
        <p:nvSpPr>
          <p:cNvPr id="11" name="TextBox 10">
            <a:extLst>
              <a:ext uri="{FF2B5EF4-FFF2-40B4-BE49-F238E27FC236}">
                <a16:creationId xmlns:a16="http://schemas.microsoft.com/office/drawing/2014/main" id="{09760431-FB28-9280-A630-DBD261158D2E}"/>
              </a:ext>
            </a:extLst>
          </p:cNvPr>
          <p:cNvSpPr txBox="1"/>
          <p:nvPr/>
        </p:nvSpPr>
        <p:spPr>
          <a:xfrm>
            <a:off x="5321299" y="8913692"/>
            <a:ext cx="1993900" cy="246221"/>
          </a:xfrm>
          <a:prstGeom prst="rect">
            <a:avLst/>
          </a:prstGeom>
          <a:noFill/>
        </p:spPr>
        <p:txBody>
          <a:bodyPr wrap="square" lIns="0" rIns="0" rtlCol="0" anchor="ctr">
            <a:spAutoFit/>
          </a:bodyPr>
          <a:lstStyle/>
          <a:p>
            <a:pPr lvl="0" algn="r">
              <a:defRPr/>
            </a:pP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 </a:t>
            </a:r>
            <a:r>
              <a:rPr lang="en-US" sz="1000" b="1" dirty="0">
                <a:solidFill>
                  <a:schemeClr val="tx1">
                    <a:lumMod val="65000"/>
                    <a:lumOff val="35000"/>
                  </a:schemeClr>
                </a:solidFill>
                <a:latin typeface="Roboto" panose="02000000000000000000" pitchFamily="2" charset="0"/>
                <a:ea typeface="Roboto" panose="02000000000000000000" pitchFamily="2" charset="0"/>
                <a:cs typeface="Arial" panose="020B0604020202020204" pitchFamily="34" charset="0"/>
              </a:rPr>
              <a:t>Portfolio: github.com/dalhunter </a:t>
            </a: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a:t>
            </a:r>
            <a:endParaRPr lang="en-US" sz="1000" b="1" dirty="0">
              <a:solidFill>
                <a:schemeClr val="tx2"/>
              </a:solidFill>
              <a:latin typeface="Roboto" panose="02000000000000000000" pitchFamily="2" charset="0"/>
              <a:ea typeface="Roboto" panose="02000000000000000000" pitchFamily="2" charset="0"/>
              <a:cs typeface="Arial" panose="020B0604020202020204" pitchFamily="34" charset="0"/>
            </a:endParaRPr>
          </a:p>
        </p:txBody>
      </p:sp>
      <p:sp>
        <p:nvSpPr>
          <p:cNvPr id="15" name="TextBox 14">
            <a:extLst>
              <a:ext uri="{FF2B5EF4-FFF2-40B4-BE49-F238E27FC236}">
                <a16:creationId xmlns:a16="http://schemas.microsoft.com/office/drawing/2014/main" id="{5BAAC55A-2E6E-D993-47D6-C84C970A3DC6}"/>
              </a:ext>
            </a:extLst>
          </p:cNvPr>
          <p:cNvSpPr txBox="1"/>
          <p:nvPr/>
        </p:nvSpPr>
        <p:spPr>
          <a:xfrm>
            <a:off x="457200" y="9201528"/>
            <a:ext cx="6858000" cy="461665"/>
          </a:xfrm>
          <a:prstGeom prst="rect">
            <a:avLst/>
          </a:prstGeom>
          <a:noFill/>
        </p:spPr>
        <p:txBody>
          <a:bodyPr wrap="square" lIns="0" rIns="0" rtlCol="0">
            <a:spAutoFit/>
          </a:bodyPr>
          <a:lstStyle/>
          <a:p>
            <a:pPr algn="just"/>
            <a:r>
              <a:rPr lang="en-US" sz="800" i="0" dirty="0">
                <a:latin typeface="Roboto" panose="02000000000000000000" pitchFamily="2" charset="0"/>
                <a:ea typeface="Roboto" panose="02000000000000000000" pitchFamily="2" charset="0"/>
                <a:cs typeface="Arial" panose="020B0604020202020204" pitchFamily="34" charset="0"/>
              </a:rPr>
              <a:t>This document is intended for educational and portfolio purposes only. All information presented is derived from publicly available open-source intelligence (OSINT) sources, including surface web, technical intelligence feeds, and publicly accessible dark web resources used for security research and threat monitoring. No unauthorized access to private systems or non-public data was used in the creation of this report.</a:t>
            </a:r>
            <a:endParaRPr lang="en-US" sz="1000" i="0" dirty="0">
              <a:latin typeface="Roboto" panose="02000000000000000000" pitchFamily="2" charset="0"/>
              <a:ea typeface="Roboto" panose="02000000000000000000" pitchFamily="2" charset="0"/>
              <a:cs typeface="Arial" panose="020B0604020202020204" pitchFamily="34" charset="0"/>
            </a:endParaRPr>
          </a:p>
        </p:txBody>
      </p:sp>
      <p:sp>
        <p:nvSpPr>
          <p:cNvPr id="16" name="TextBox 15">
            <a:extLst>
              <a:ext uri="{FF2B5EF4-FFF2-40B4-BE49-F238E27FC236}">
                <a16:creationId xmlns:a16="http://schemas.microsoft.com/office/drawing/2014/main" id="{875940E1-268B-E555-5412-FC79E9DD092F}"/>
              </a:ext>
            </a:extLst>
          </p:cNvPr>
          <p:cNvSpPr txBox="1"/>
          <p:nvPr/>
        </p:nvSpPr>
        <p:spPr>
          <a:xfrm>
            <a:off x="196848" y="976506"/>
            <a:ext cx="7383048" cy="5463034"/>
          </a:xfrm>
          <a:prstGeom prst="rect">
            <a:avLst/>
          </a:prstGeom>
          <a:noFill/>
        </p:spPr>
        <p:txBody>
          <a:bodyPr wrap="square" rtlCol="0">
            <a:spAutoFit/>
          </a:bodyPr>
          <a:lstStyle/>
          <a:p>
            <a:pPr algn="l"/>
            <a:r>
              <a:rPr lang="en-US" sz="1400" b="1" u="sng" dirty="0">
                <a:latin typeface="Arial" panose="020B0604020202020204" pitchFamily="34" charset="0"/>
                <a:ea typeface="Roboto" panose="02000000000000000000" pitchFamily="2" charset="0"/>
                <a:cs typeface="Arial" panose="020B0604020202020204" pitchFamily="34" charset="0"/>
              </a:rPr>
              <a:t>Section 4: Indicators of Compromise (IOCs)</a:t>
            </a:r>
          </a:p>
          <a:p>
            <a:pPr marL="171450" indent="-171450">
              <a:spcAft>
                <a:spcPts val="600"/>
              </a:spcAft>
              <a:buFont typeface="Arial" panose="020B0604020202020204" pitchFamily="34" charset="0"/>
              <a:buChar char="•"/>
            </a:pPr>
            <a:r>
              <a:rPr lang="en-US" sz="1200" dirty="0"/>
              <a:t>The “TraderTraitor” campaign is associated with North Korean state-sponsored cyber activity linked to the Lazarus Group ecosystem. The following indicators were identified from trojanized cryptocurrency applications and supporting infrastructure. </a:t>
            </a:r>
          </a:p>
          <a:p>
            <a:r>
              <a:rPr lang="en-US" sz="1200" b="1" dirty="0"/>
              <a:t>		Malicious Domains</a:t>
            </a:r>
          </a:p>
          <a:p>
            <a:pPr marL="1085850" lvl="2" indent="-171450">
              <a:buFont typeface="Arial" panose="020B0604020202020204" pitchFamily="34" charset="0"/>
              <a:buChar char="•"/>
            </a:pPr>
            <a:r>
              <a:rPr lang="en-US" sz="1200" dirty="0"/>
              <a:t>tokenais[.]com </a:t>
            </a:r>
            <a:r>
              <a:rPr lang="en-US" sz="1200" b="1" dirty="0">
                <a:latin typeface="Arial" panose="020B0604020202020204" pitchFamily="34" charset="0"/>
                <a:cs typeface="Arial" panose="020B0604020202020204" pitchFamily="34" charset="0"/>
              </a:rPr>
              <a:t>(Figure 8)</a:t>
            </a:r>
            <a:endParaRPr lang="en-US" sz="1200" dirty="0"/>
          </a:p>
          <a:p>
            <a:pPr marL="1085850" lvl="2" indent="-171450">
              <a:buFont typeface="Arial" panose="020B0604020202020204" pitchFamily="34" charset="0"/>
              <a:buChar char="•"/>
            </a:pPr>
            <a:r>
              <a:rPr lang="en-US" sz="1200" dirty="0"/>
              <a:t>cryptais[.]com </a:t>
            </a:r>
            <a:endParaRPr lang="en-US" sz="1200" u="sng" dirty="0"/>
          </a:p>
          <a:p>
            <a:pPr marL="171450" indent="-171450">
              <a:spcAft>
                <a:spcPts val="900"/>
              </a:spcAft>
              <a:buFont typeface="Arial" panose="020B0604020202020204" pitchFamily="34" charset="0"/>
              <a:buChar char="•"/>
            </a:pPr>
            <a:r>
              <a:rPr lang="en-US" sz="1200" dirty="0"/>
              <a:t>Used to host fake cryptocurrency/AI trading applications and deliver malware through deceptive downloads and installers.</a:t>
            </a:r>
          </a:p>
          <a:p>
            <a:r>
              <a:rPr lang="en-US" sz="1200" b="1" dirty="0"/>
              <a:t>		Command-and-Control (C2) Infrastructure</a:t>
            </a:r>
          </a:p>
          <a:p>
            <a:pPr marL="1085850" lvl="2" indent="-171450">
              <a:buFont typeface="Arial" panose="020B0604020202020204" pitchFamily="34" charset="0"/>
              <a:buChar char="•"/>
            </a:pPr>
            <a:r>
              <a:rPr lang="en-US" sz="1200" dirty="0"/>
              <a:t>hxxps://www.esilet[.]com/update/ </a:t>
            </a:r>
          </a:p>
          <a:p>
            <a:pPr marL="1085850" lvl="2" indent="-171450">
              <a:buFont typeface="Arial" panose="020B0604020202020204" pitchFamily="34" charset="0"/>
              <a:buChar char="•"/>
            </a:pPr>
            <a:r>
              <a:rPr lang="en-US" sz="1200" dirty="0"/>
              <a:t>hxxps://sche-eg[.]org/plugins/top.php </a:t>
            </a:r>
            <a:r>
              <a:rPr lang="en-US" sz="1200" b="1" dirty="0">
                <a:latin typeface="Arial" panose="020B0604020202020204" pitchFamily="34" charset="0"/>
                <a:cs typeface="Arial" panose="020B0604020202020204" pitchFamily="34" charset="0"/>
              </a:rPr>
              <a:t>(Figure 9)</a:t>
            </a:r>
            <a:endParaRPr lang="en-US" sz="1200" dirty="0"/>
          </a:p>
          <a:p>
            <a:pPr marL="1085850" lvl="2" indent="-171450">
              <a:buFont typeface="Arial" panose="020B0604020202020204" pitchFamily="34" charset="0"/>
              <a:buChar char="•"/>
            </a:pPr>
            <a:r>
              <a:rPr lang="en-US" sz="1200" dirty="0"/>
              <a:t>hxxps://dafnefonseca[.]com/wp-content/themes/top.php </a:t>
            </a:r>
          </a:p>
          <a:p>
            <a:pPr marL="171450" indent="-171450">
              <a:spcAft>
                <a:spcPts val="900"/>
              </a:spcAft>
              <a:buFont typeface="Arial" panose="020B0604020202020204" pitchFamily="34" charset="0"/>
              <a:buChar char="•"/>
            </a:pPr>
            <a:r>
              <a:rPr lang="en-US" sz="1200" dirty="0"/>
              <a:t>Used for remote communication and payload delivery to infected hosts, enabling attacker control and staged malware execution.</a:t>
            </a:r>
          </a:p>
          <a:p>
            <a:r>
              <a:rPr lang="en-US" sz="1200" b="1" dirty="0"/>
              <a:t>		File Hashes (Malware Samples)</a:t>
            </a:r>
          </a:p>
          <a:p>
            <a:pPr marL="1085850" lvl="2" indent="-171450">
              <a:buFont typeface="Arial" panose="020B0604020202020204" pitchFamily="34" charset="0"/>
              <a:buChar char="•"/>
            </a:pPr>
            <a:r>
              <a:rPr lang="en-US" sz="1200" dirty="0"/>
              <a:t>60b3cfe2ec3100caf4afde734cfd5147f78acf58ab17d4480196831db4aa5f18 </a:t>
            </a:r>
            <a:r>
              <a:rPr lang="en-US" sz="1200" b="1" dirty="0">
                <a:latin typeface="Arial" panose="020B0604020202020204" pitchFamily="34" charset="0"/>
                <a:cs typeface="Arial" panose="020B0604020202020204" pitchFamily="34" charset="0"/>
              </a:rPr>
              <a:t>(Figure 10)</a:t>
            </a:r>
            <a:endParaRPr lang="en-US" sz="1200" dirty="0"/>
          </a:p>
          <a:p>
            <a:pPr marL="1085850" lvl="2" indent="-171450">
              <a:buFont typeface="Arial" panose="020B0604020202020204" pitchFamily="34" charset="0"/>
              <a:buChar char="•"/>
            </a:pPr>
            <a:r>
              <a:rPr lang="en-US" sz="1200" dirty="0"/>
              <a:t>f0e8c29e3349d030a97f4a8673387c2e21858cccd1fb9ebbf9009b27743b2e5b </a:t>
            </a:r>
          </a:p>
          <a:p>
            <a:pPr marL="1085850" lvl="2" indent="-171450">
              <a:buFont typeface="Arial" panose="020B0604020202020204" pitchFamily="34" charset="0"/>
              <a:buChar char="•"/>
            </a:pPr>
            <a:r>
              <a:rPr lang="en-US" sz="1200" dirty="0"/>
              <a:t>5b40b73934c1583144f41d8463e227529fa7157e26e6012babd062e3fd7e0b03 </a:t>
            </a:r>
          </a:p>
          <a:p>
            <a:pPr marL="171450" indent="-171450">
              <a:spcAft>
                <a:spcPts val="900"/>
              </a:spcAft>
              <a:buFont typeface="Arial" panose="020B0604020202020204" pitchFamily="34" charset="0"/>
              <a:buChar char="•"/>
            </a:pPr>
            <a:r>
              <a:rPr lang="en-US" sz="1200" dirty="0"/>
              <a:t>Associated with trojanized cryptocurrency/AI trading applications delivering remote access capability.</a:t>
            </a:r>
          </a:p>
          <a:p>
            <a:r>
              <a:rPr lang="en-US" sz="1200" b="1" dirty="0"/>
              <a:t>		Malware</a:t>
            </a:r>
          </a:p>
          <a:p>
            <a:pPr marL="1085850" lvl="2" indent="-171450">
              <a:buFont typeface="Arial" panose="020B0604020202020204" pitchFamily="34" charset="0"/>
              <a:buChar char="•"/>
            </a:pPr>
            <a:r>
              <a:rPr lang="en-US" sz="1200" dirty="0"/>
              <a:t>Manuscrypt (RAT) </a:t>
            </a:r>
          </a:p>
          <a:p>
            <a:pPr marL="171450" indent="-171450">
              <a:spcAft>
                <a:spcPts val="900"/>
              </a:spcAft>
              <a:buFont typeface="Arial" panose="020B0604020202020204" pitchFamily="34" charset="0"/>
              <a:buChar char="•"/>
            </a:pPr>
            <a:r>
              <a:rPr lang="en-US" sz="1200" dirty="0"/>
              <a:t>Remote system control, data theft, and secondary payload deployment across compromised machines. </a:t>
            </a:r>
          </a:p>
          <a:p>
            <a:pPr marL="171450" indent="-171450">
              <a:buFont typeface="Arial" panose="020B0604020202020204" pitchFamily="34" charset="0"/>
              <a:buChar char="•"/>
            </a:pPr>
            <a:r>
              <a:rPr lang="en-US" sz="1200" b="1" u="sng" dirty="0">
                <a:solidFill>
                  <a:schemeClr val="tx1">
                    <a:lumMod val="50000"/>
                    <a:lumOff val="50000"/>
                  </a:schemeClr>
                </a:solidFill>
                <a:latin typeface="Arial" panose="020B0604020202020204" pitchFamily="34" charset="0"/>
                <a:ea typeface="Roboto" panose="02000000000000000000" pitchFamily="2" charset="0"/>
                <a:cs typeface="Arial" panose="020B0604020202020204" pitchFamily="34" charset="0"/>
              </a:rPr>
              <a:t>Analyst Comments</a:t>
            </a:r>
            <a:r>
              <a:rPr lang="en-US" sz="1200" b="1" dirty="0">
                <a:solidFill>
                  <a:schemeClr val="tx1">
                    <a:lumMod val="50000"/>
                    <a:lumOff val="50000"/>
                  </a:schemeClr>
                </a:solidFill>
                <a:latin typeface="Arial" panose="020B0604020202020204" pitchFamily="34" charset="0"/>
                <a:ea typeface="Roboto" panose="02000000000000000000" pitchFamily="2" charset="0"/>
                <a:cs typeface="Arial" panose="020B0604020202020204" pitchFamily="34" charset="0"/>
              </a:rPr>
              <a:t>: </a:t>
            </a:r>
            <a:r>
              <a:rPr lang="en-US" sz="1200" dirty="0">
                <a:solidFill>
                  <a:schemeClr val="tx1">
                    <a:lumMod val="50000"/>
                    <a:lumOff val="50000"/>
                  </a:schemeClr>
                </a:solidFill>
              </a:rPr>
              <a:t>This reporting reflects indicators associated with a single identified campaign within the broader Lazarus Group ecosystem. This is not an exhaustive list of the actor’s broader infrastructure or activity scope.</a:t>
            </a:r>
          </a:p>
        </p:txBody>
      </p:sp>
      <p:pic>
        <p:nvPicPr>
          <p:cNvPr id="3" name="Picture 2">
            <a:extLst>
              <a:ext uri="{FF2B5EF4-FFF2-40B4-BE49-F238E27FC236}">
                <a16:creationId xmlns:a16="http://schemas.microsoft.com/office/drawing/2014/main" id="{DE450310-3100-8AD7-8775-16388A836B27}"/>
              </a:ext>
            </a:extLst>
          </p:cNvPr>
          <p:cNvPicPr>
            <a:picLocks noChangeAspect="1"/>
          </p:cNvPicPr>
          <p:nvPr/>
        </p:nvPicPr>
        <p:blipFill>
          <a:blip r:embed="rId3"/>
          <a:stretch>
            <a:fillRect/>
          </a:stretch>
        </p:blipFill>
        <p:spPr>
          <a:xfrm>
            <a:off x="259977" y="6647667"/>
            <a:ext cx="2106706" cy="1768788"/>
          </a:xfrm>
          <a:prstGeom prst="rect">
            <a:avLst/>
          </a:prstGeom>
          <a:effectLst>
            <a:outerShdw blurRad="63500" sx="102000" sy="102000" algn="ctr" rotWithShape="0">
              <a:prstClr val="black">
                <a:alpha val="40000"/>
              </a:prstClr>
            </a:outerShdw>
          </a:effectLst>
        </p:spPr>
      </p:pic>
      <p:pic>
        <p:nvPicPr>
          <p:cNvPr id="13" name="Picture 12">
            <a:extLst>
              <a:ext uri="{FF2B5EF4-FFF2-40B4-BE49-F238E27FC236}">
                <a16:creationId xmlns:a16="http://schemas.microsoft.com/office/drawing/2014/main" id="{00BF9637-F26F-9F63-FFD9-DE6B9BB1D220}"/>
              </a:ext>
            </a:extLst>
          </p:cNvPr>
          <p:cNvPicPr>
            <a:picLocks noChangeAspect="1"/>
          </p:cNvPicPr>
          <p:nvPr/>
        </p:nvPicPr>
        <p:blipFill>
          <a:blip r:embed="rId4"/>
          <a:stretch>
            <a:fillRect/>
          </a:stretch>
        </p:blipFill>
        <p:spPr>
          <a:xfrm>
            <a:off x="2795507" y="6407520"/>
            <a:ext cx="4328670" cy="849113"/>
          </a:xfrm>
          <a:prstGeom prst="rect">
            <a:avLst/>
          </a:prstGeom>
          <a:effectLst>
            <a:outerShdw blurRad="63500" sx="102000" sy="102000" algn="ctr" rotWithShape="0">
              <a:prstClr val="black">
                <a:alpha val="40000"/>
              </a:prstClr>
            </a:outerShdw>
          </a:effectLst>
        </p:spPr>
      </p:pic>
      <p:sp>
        <p:nvSpPr>
          <p:cNvPr id="17" name="TextBox 16">
            <a:extLst>
              <a:ext uri="{FF2B5EF4-FFF2-40B4-BE49-F238E27FC236}">
                <a16:creationId xmlns:a16="http://schemas.microsoft.com/office/drawing/2014/main" id="{1246A899-FC6F-6D6B-7587-5A32F3CD635F}"/>
              </a:ext>
            </a:extLst>
          </p:cNvPr>
          <p:cNvSpPr txBox="1"/>
          <p:nvPr/>
        </p:nvSpPr>
        <p:spPr>
          <a:xfrm>
            <a:off x="3441728" y="7277653"/>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2"/>
              </a:rPr>
              <a:t>Figure 9</a:t>
            </a:r>
            <a:endParaRPr lang="en-US" sz="1200" b="1" dirty="0">
              <a:latin typeface="Arial" panose="020B0604020202020204" pitchFamily="34" charset="0"/>
              <a:ea typeface="Roboto" panose="02000000000000000000" pitchFamily="2" charset="0"/>
              <a:cs typeface="Arial" panose="020B0604020202020204" pitchFamily="34" charset="0"/>
            </a:endParaRPr>
          </a:p>
        </p:txBody>
      </p:sp>
      <p:sp>
        <p:nvSpPr>
          <p:cNvPr id="25" name="TextBox 24">
            <a:extLst>
              <a:ext uri="{FF2B5EF4-FFF2-40B4-BE49-F238E27FC236}">
                <a16:creationId xmlns:a16="http://schemas.microsoft.com/office/drawing/2014/main" id="{42DB2763-2EDB-61D4-9B1F-82E31E7191B7}"/>
              </a:ext>
            </a:extLst>
          </p:cNvPr>
          <p:cNvSpPr txBox="1"/>
          <p:nvPr/>
        </p:nvSpPr>
        <p:spPr>
          <a:xfrm>
            <a:off x="3441728" y="8437262"/>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2"/>
              </a:rPr>
              <a:t>Figure 10</a:t>
            </a:r>
            <a:endParaRPr lang="en-US" sz="1200" b="1" dirty="0">
              <a:latin typeface="Arial" panose="020B0604020202020204" pitchFamily="34" charset="0"/>
              <a:ea typeface="Roboto" panose="02000000000000000000" pitchFamily="2" charset="0"/>
              <a:cs typeface="Arial" panose="020B0604020202020204" pitchFamily="34" charset="0"/>
            </a:endParaRPr>
          </a:p>
        </p:txBody>
      </p:sp>
      <p:pic>
        <p:nvPicPr>
          <p:cNvPr id="29" name="Picture 28">
            <a:extLst>
              <a:ext uri="{FF2B5EF4-FFF2-40B4-BE49-F238E27FC236}">
                <a16:creationId xmlns:a16="http://schemas.microsoft.com/office/drawing/2014/main" id="{9B06191A-DABD-2A71-AB66-BA17DED70B4A}"/>
              </a:ext>
            </a:extLst>
          </p:cNvPr>
          <p:cNvPicPr>
            <a:picLocks noChangeAspect="1"/>
          </p:cNvPicPr>
          <p:nvPr/>
        </p:nvPicPr>
        <p:blipFill>
          <a:blip r:embed="rId5"/>
          <a:stretch>
            <a:fillRect/>
          </a:stretch>
        </p:blipFill>
        <p:spPr>
          <a:xfrm>
            <a:off x="2686399" y="7669160"/>
            <a:ext cx="4628799" cy="747295"/>
          </a:xfrm>
          <a:prstGeom prst="rect">
            <a:avLst/>
          </a:prstGeom>
          <a:effectLst>
            <a:outerShdw blurRad="63500" sx="102000" sy="102000" algn="ctr" rotWithShape="0">
              <a:prstClr val="black">
                <a:alpha val="40000"/>
              </a:prstClr>
            </a:outerShdw>
          </a:effectLst>
        </p:spPr>
      </p:pic>
      <p:sp>
        <p:nvSpPr>
          <p:cNvPr id="2" name="TextBox 2">
            <a:extLst>
              <a:ext uri="{FF2B5EF4-FFF2-40B4-BE49-F238E27FC236}">
                <a16:creationId xmlns:a16="http://schemas.microsoft.com/office/drawing/2014/main" id="{7DC832DA-E748-D750-1FFA-4910D9AB5694}"/>
              </a:ext>
            </a:extLst>
          </p:cNvPr>
          <p:cNvSpPr txBox="1"/>
          <p:nvPr/>
        </p:nvSpPr>
        <p:spPr>
          <a:xfrm>
            <a:off x="5459977" y="282677"/>
            <a:ext cx="2074161"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200" b="1" dirty="0">
                <a:latin typeface="Arial" panose="020B0604020202020204" pitchFamily="34" charset="0"/>
                <a:cs typeface="Arial" panose="020B0604020202020204" pitchFamily="34" charset="0"/>
              </a:rPr>
              <a:t>Threat Intelligence Report</a:t>
            </a:r>
          </a:p>
        </p:txBody>
      </p:sp>
    </p:spTree>
    <p:extLst>
      <p:ext uri="{BB962C8B-B14F-4D97-AF65-F5344CB8AC3E}">
        <p14:creationId xmlns:p14="http://schemas.microsoft.com/office/powerpoint/2010/main" val="1014427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107BB-7349-8641-76B9-ECB03D1C52F1}"/>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2E3F3074-5D77-1311-831C-EFFB06607389}"/>
              </a:ext>
            </a:extLst>
          </p:cNvPr>
          <p:cNvSpPr txBox="1"/>
          <p:nvPr/>
        </p:nvSpPr>
        <p:spPr>
          <a:xfrm>
            <a:off x="457201" y="8913693"/>
            <a:ext cx="2661313" cy="246221"/>
          </a:xfrm>
          <a:prstGeom prst="rect">
            <a:avLst/>
          </a:prstGeom>
          <a:noFill/>
        </p:spPr>
        <p:txBody>
          <a:bodyPr wrap="square" lIns="0" rIns="0" rtlCol="0" anchor="ctr">
            <a:spAutoFit/>
          </a:bodyPr>
          <a:lstStyle/>
          <a:p>
            <a:pPr lvl="0">
              <a:defRPr/>
            </a:pPr>
            <a:r>
              <a:rPr lang="en-US" sz="1000" b="1" dirty="0">
                <a:solidFill>
                  <a:schemeClr val="tx1">
                    <a:lumMod val="65000"/>
                    <a:lumOff val="35000"/>
                  </a:schemeClr>
                </a:solidFill>
                <a:latin typeface="Arial" panose="020B0604020202020204" pitchFamily="34" charset="0"/>
                <a:ea typeface="Roboto" panose="02000000000000000000" pitchFamily="2" charset="0"/>
                <a:cs typeface="Arial" panose="020B0604020202020204" pitchFamily="34" charset="0"/>
              </a:rPr>
              <a:t>25APRIL2026</a:t>
            </a:r>
          </a:p>
        </p:txBody>
      </p:sp>
      <p:sp>
        <p:nvSpPr>
          <p:cNvPr id="6" name="Title 7">
            <a:extLst>
              <a:ext uri="{FF2B5EF4-FFF2-40B4-BE49-F238E27FC236}">
                <a16:creationId xmlns:a16="http://schemas.microsoft.com/office/drawing/2014/main" id="{23386A5F-9E1D-BA0F-A2E1-0B35ACC08CDB}"/>
              </a:ext>
            </a:extLst>
          </p:cNvPr>
          <p:cNvSpPr txBox="1">
            <a:spLocks/>
          </p:cNvSpPr>
          <p:nvPr/>
        </p:nvSpPr>
        <p:spPr>
          <a:xfrm>
            <a:off x="0" y="0"/>
            <a:ext cx="7772400" cy="825227"/>
          </a:xfrm>
          <a:prstGeom prst="rect">
            <a:avLst/>
          </a:prstGeom>
          <a:solidFill>
            <a:schemeClr val="bg1">
              <a:lumMod val="75000"/>
            </a:schemeClr>
          </a:solidFill>
          <a:ln>
            <a:noFill/>
          </a:ln>
          <a:effectLst>
            <a:outerShdw blurRad="50800" dist="38100" dir="5400000" algn="t" rotWithShape="0">
              <a:prstClr val="black">
                <a:alpha val="40000"/>
              </a:prstClr>
            </a:outerShdw>
          </a:effectLst>
        </p:spPr>
        <p:txBody>
          <a:bodyPr>
            <a:noAutofit/>
          </a:bodyPr>
          <a:lst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a:lstStyle>
          <a:p>
            <a:endParaRPr lang="en-US" sz="2400" b="1" dirty="0">
              <a:solidFill>
                <a:srgbClr val="4666EF"/>
              </a:solidFill>
            </a:endParaRPr>
          </a:p>
          <a:p>
            <a:endParaRPr lang="en-US" sz="2400" b="1" dirty="0">
              <a:solidFill>
                <a:srgbClr val="4666EF"/>
              </a:solidFill>
            </a:endParaRPr>
          </a:p>
        </p:txBody>
      </p:sp>
      <p:sp>
        <p:nvSpPr>
          <p:cNvPr id="7" name="TextBox 6">
            <a:extLst>
              <a:ext uri="{FF2B5EF4-FFF2-40B4-BE49-F238E27FC236}">
                <a16:creationId xmlns:a16="http://schemas.microsoft.com/office/drawing/2014/main" id="{49711439-44CD-E763-B2E8-4DC1074AC99A}"/>
              </a:ext>
            </a:extLst>
          </p:cNvPr>
          <p:cNvSpPr txBox="1"/>
          <p:nvPr/>
        </p:nvSpPr>
        <p:spPr>
          <a:xfrm>
            <a:off x="196849" y="300371"/>
            <a:ext cx="1563968"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Lazarus Group</a:t>
            </a:r>
          </a:p>
        </p:txBody>
      </p:sp>
      <p:sp>
        <p:nvSpPr>
          <p:cNvPr id="11" name="TextBox 10">
            <a:extLst>
              <a:ext uri="{FF2B5EF4-FFF2-40B4-BE49-F238E27FC236}">
                <a16:creationId xmlns:a16="http://schemas.microsoft.com/office/drawing/2014/main" id="{AFA8E3C2-1AE0-32E7-68AE-D0F8E4508714}"/>
              </a:ext>
            </a:extLst>
          </p:cNvPr>
          <p:cNvSpPr txBox="1"/>
          <p:nvPr/>
        </p:nvSpPr>
        <p:spPr>
          <a:xfrm>
            <a:off x="5321299" y="8913692"/>
            <a:ext cx="1993900" cy="246221"/>
          </a:xfrm>
          <a:prstGeom prst="rect">
            <a:avLst/>
          </a:prstGeom>
          <a:noFill/>
        </p:spPr>
        <p:txBody>
          <a:bodyPr wrap="square" lIns="0" rIns="0" rtlCol="0" anchor="ctr">
            <a:spAutoFit/>
          </a:bodyPr>
          <a:lstStyle/>
          <a:p>
            <a:pPr lvl="0" algn="r">
              <a:defRPr/>
            </a:pP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 </a:t>
            </a:r>
            <a:r>
              <a:rPr lang="en-US" sz="1000" b="1" dirty="0">
                <a:solidFill>
                  <a:schemeClr val="tx1">
                    <a:lumMod val="65000"/>
                    <a:lumOff val="35000"/>
                  </a:schemeClr>
                </a:solidFill>
                <a:latin typeface="Roboto" panose="02000000000000000000" pitchFamily="2" charset="0"/>
                <a:ea typeface="Roboto" panose="02000000000000000000" pitchFamily="2" charset="0"/>
                <a:cs typeface="Arial" panose="020B0604020202020204" pitchFamily="34" charset="0"/>
              </a:rPr>
              <a:t>Portfolio: github.com/dalhunter </a:t>
            </a: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a:t>
            </a:r>
            <a:endParaRPr lang="en-US" sz="1000" b="1" dirty="0">
              <a:solidFill>
                <a:schemeClr val="tx2"/>
              </a:solidFill>
              <a:latin typeface="Roboto" panose="02000000000000000000" pitchFamily="2" charset="0"/>
              <a:ea typeface="Roboto" panose="02000000000000000000" pitchFamily="2" charset="0"/>
              <a:cs typeface="Arial" panose="020B0604020202020204" pitchFamily="34" charset="0"/>
            </a:endParaRPr>
          </a:p>
        </p:txBody>
      </p:sp>
      <p:sp>
        <p:nvSpPr>
          <p:cNvPr id="15" name="TextBox 14">
            <a:extLst>
              <a:ext uri="{FF2B5EF4-FFF2-40B4-BE49-F238E27FC236}">
                <a16:creationId xmlns:a16="http://schemas.microsoft.com/office/drawing/2014/main" id="{213E34CD-B5F6-A98C-38DD-F33A38C85A6C}"/>
              </a:ext>
            </a:extLst>
          </p:cNvPr>
          <p:cNvSpPr txBox="1"/>
          <p:nvPr/>
        </p:nvSpPr>
        <p:spPr>
          <a:xfrm>
            <a:off x="457200" y="9201528"/>
            <a:ext cx="6858000" cy="461665"/>
          </a:xfrm>
          <a:prstGeom prst="rect">
            <a:avLst/>
          </a:prstGeom>
          <a:noFill/>
        </p:spPr>
        <p:txBody>
          <a:bodyPr wrap="square" lIns="0" rIns="0" rtlCol="0">
            <a:spAutoFit/>
          </a:bodyPr>
          <a:lstStyle/>
          <a:p>
            <a:pPr algn="just"/>
            <a:r>
              <a:rPr lang="en-US" sz="800" i="0" dirty="0">
                <a:latin typeface="Roboto" panose="02000000000000000000" pitchFamily="2" charset="0"/>
                <a:ea typeface="Roboto" panose="02000000000000000000" pitchFamily="2" charset="0"/>
                <a:cs typeface="Arial" panose="020B0604020202020204" pitchFamily="34" charset="0"/>
              </a:rPr>
              <a:t>This document is intended for educational and portfolio purposes only. All information presented is derived from publicly available open-source intelligence (OSINT) sources, including surface web, technical intelligence feeds, and publicly accessible dark web resources used for security research and threat monitoring. No unauthorized access to private systems or non-public data was used in the creation of this report.</a:t>
            </a:r>
            <a:endParaRPr lang="en-US" sz="1000" i="0" dirty="0">
              <a:latin typeface="Roboto" panose="02000000000000000000" pitchFamily="2" charset="0"/>
              <a:ea typeface="Roboto" panose="02000000000000000000" pitchFamily="2" charset="0"/>
              <a:cs typeface="Arial" panose="020B0604020202020204" pitchFamily="34" charset="0"/>
            </a:endParaRPr>
          </a:p>
        </p:txBody>
      </p:sp>
      <p:sp>
        <p:nvSpPr>
          <p:cNvPr id="2" name="TextBox 1">
            <a:extLst>
              <a:ext uri="{FF2B5EF4-FFF2-40B4-BE49-F238E27FC236}">
                <a16:creationId xmlns:a16="http://schemas.microsoft.com/office/drawing/2014/main" id="{427B1EE1-14C5-1553-30FF-959F1CF2B49A}"/>
              </a:ext>
            </a:extLst>
          </p:cNvPr>
          <p:cNvSpPr txBox="1"/>
          <p:nvPr/>
        </p:nvSpPr>
        <p:spPr>
          <a:xfrm>
            <a:off x="2368082" y="4058198"/>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2"/>
              </a:rPr>
              <a:t>Figure 11</a:t>
            </a:r>
            <a:endParaRPr lang="en-US" sz="1200" b="1" dirty="0">
              <a:latin typeface="Arial" panose="020B0604020202020204" pitchFamily="34" charset="0"/>
              <a:ea typeface="Roboto" panose="02000000000000000000" pitchFamily="2" charset="0"/>
              <a:cs typeface="Arial" panose="020B0604020202020204" pitchFamily="34" charset="0"/>
            </a:endParaRPr>
          </a:p>
        </p:txBody>
      </p:sp>
      <p:sp>
        <p:nvSpPr>
          <p:cNvPr id="3" name="TextBox 2">
            <a:extLst>
              <a:ext uri="{FF2B5EF4-FFF2-40B4-BE49-F238E27FC236}">
                <a16:creationId xmlns:a16="http://schemas.microsoft.com/office/drawing/2014/main" id="{A4A5074E-CECF-0A34-FE4A-C56CB398704D}"/>
              </a:ext>
            </a:extLst>
          </p:cNvPr>
          <p:cNvSpPr txBox="1"/>
          <p:nvPr/>
        </p:nvSpPr>
        <p:spPr>
          <a:xfrm>
            <a:off x="196849" y="982054"/>
            <a:ext cx="7042091" cy="1690206"/>
          </a:xfrm>
          <a:prstGeom prst="rect">
            <a:avLst/>
          </a:prstGeom>
          <a:noFill/>
        </p:spPr>
        <p:txBody>
          <a:bodyPr wrap="square" rtlCol="0">
            <a:spAutoFit/>
          </a:bodyPr>
          <a:lstStyle/>
          <a:p>
            <a:pPr algn="l"/>
            <a:r>
              <a:rPr lang="en-US" sz="1400" b="1" u="sng" dirty="0">
                <a:latin typeface="Arial" panose="020B0604020202020204" pitchFamily="34" charset="0"/>
                <a:ea typeface="Roboto" panose="02000000000000000000" pitchFamily="2" charset="0"/>
                <a:cs typeface="Arial" panose="020B0604020202020204" pitchFamily="34" charset="0"/>
              </a:rPr>
              <a:t>Section 5: Analytic Assessment</a:t>
            </a:r>
          </a:p>
          <a:p>
            <a:pPr marL="171450" indent="-171450">
              <a:spcAft>
                <a:spcPts val="670"/>
              </a:spcAft>
              <a:buFont typeface="Arial" panose="020B0604020202020204" pitchFamily="34" charset="0"/>
              <a:buChar char="•"/>
            </a:pPr>
            <a:r>
              <a:rPr lang="en-US" sz="1200" dirty="0"/>
              <a:t>Lazarus Group is assessed as a highly capable, state-linked threat actor operating on behalf of North Korea, conducting a broad range of cyber operations that include both financially motivated activity and strategic espionage</a:t>
            </a:r>
            <a:r>
              <a:rPr lang="en-US" sz="1200" dirty="0">
                <a:latin typeface="Arial" panose="020B0604020202020204" pitchFamily="34" charset="0"/>
                <a:ea typeface="Roboto" panose="02000000000000000000" pitchFamily="2" charset="0"/>
                <a:cs typeface="Arial" panose="020B0604020202020204" pitchFamily="34" charset="0"/>
              </a:rPr>
              <a:t>. </a:t>
            </a:r>
            <a:r>
              <a:rPr lang="en-US" sz="1200" b="1" dirty="0">
                <a:latin typeface="Arial" panose="020B0604020202020204" pitchFamily="34" charset="0"/>
                <a:cs typeface="Arial" panose="020B0604020202020204" pitchFamily="34" charset="0"/>
              </a:rPr>
              <a:t>(Figures 11 - 13)</a:t>
            </a:r>
            <a:endParaRPr lang="en-US" sz="1200" dirty="0">
              <a:latin typeface="Arial" panose="020B0604020202020204" pitchFamily="34" charset="0"/>
              <a:ea typeface="Roboto" panose="02000000000000000000" pitchFamily="2" charset="0"/>
              <a:cs typeface="Arial" panose="020B0604020202020204" pitchFamily="34" charset="0"/>
            </a:endParaRPr>
          </a:p>
          <a:p>
            <a:pPr marL="171450" indent="-171450">
              <a:spcAft>
                <a:spcPts val="670"/>
              </a:spcAft>
              <a:buClr>
                <a:schemeClr val="tx1"/>
              </a:buClr>
              <a:buFont typeface="Arial" panose="020B0604020202020204" pitchFamily="34" charset="0"/>
              <a:buChar char="•"/>
            </a:pPr>
            <a:r>
              <a:rPr lang="en-US" sz="1200" b="1" dirty="0">
                <a:solidFill>
                  <a:srgbClr val="FF0000"/>
                </a:solidFill>
              </a:rPr>
              <a:t>Threat Level: High </a:t>
            </a:r>
            <a:r>
              <a:rPr lang="en-US" sz="1200" b="1" dirty="0"/>
              <a:t>-</a:t>
            </a:r>
            <a:r>
              <a:rPr lang="en-US" sz="1200" dirty="0">
                <a:solidFill>
                  <a:srgbClr val="FF0000"/>
                </a:solidFill>
              </a:rPr>
              <a:t> </a:t>
            </a:r>
            <a:r>
              <a:rPr lang="en-US" sz="1200" dirty="0"/>
              <a:t>Based on demonstrated operational sophistication, sustained campaign activity, and the actor’s ability to rapidly adapt tooling and infrastructure. Lazarus Group continues to present a significant risk due to its combination of financial theft objectives and intelligence-gathering operations aligned with state priorities.</a:t>
            </a:r>
            <a:endParaRPr lang="en-US" sz="1200" dirty="0">
              <a:latin typeface="Arial" panose="020B0604020202020204" pitchFamily="34" charset="0"/>
              <a:ea typeface="Roboto" panose="02000000000000000000" pitchFamily="2" charset="0"/>
              <a:cs typeface="Arial" panose="020B0604020202020204" pitchFamily="34" charset="0"/>
            </a:endParaRPr>
          </a:p>
        </p:txBody>
      </p:sp>
      <p:pic>
        <p:nvPicPr>
          <p:cNvPr id="4" name="Picture 3">
            <a:extLst>
              <a:ext uri="{FF2B5EF4-FFF2-40B4-BE49-F238E27FC236}">
                <a16:creationId xmlns:a16="http://schemas.microsoft.com/office/drawing/2014/main" id="{C154F1F2-3082-02CC-B382-163625A1CCC9}"/>
              </a:ext>
            </a:extLst>
          </p:cNvPr>
          <p:cNvPicPr>
            <a:picLocks noChangeAspect="1"/>
          </p:cNvPicPr>
          <p:nvPr/>
        </p:nvPicPr>
        <p:blipFill>
          <a:blip r:embed="rId3"/>
          <a:stretch>
            <a:fillRect/>
          </a:stretch>
        </p:blipFill>
        <p:spPr>
          <a:xfrm>
            <a:off x="1109883" y="2785362"/>
            <a:ext cx="5549901" cy="1231269"/>
          </a:xfrm>
          <a:prstGeom prst="rect">
            <a:avLst/>
          </a:prstGeom>
          <a:effectLst>
            <a:outerShdw blurRad="63500" sx="102000" sy="102000" algn="ctr" rotWithShape="0">
              <a:prstClr val="black">
                <a:alpha val="40000"/>
              </a:prstClr>
            </a:outerShdw>
          </a:effectLst>
        </p:spPr>
      </p:pic>
      <p:pic>
        <p:nvPicPr>
          <p:cNvPr id="12" name="Picture 11">
            <a:extLst>
              <a:ext uri="{FF2B5EF4-FFF2-40B4-BE49-F238E27FC236}">
                <a16:creationId xmlns:a16="http://schemas.microsoft.com/office/drawing/2014/main" id="{4E6D1F20-6A6E-B5EB-96C4-FC24D4E01221}"/>
              </a:ext>
            </a:extLst>
          </p:cNvPr>
          <p:cNvPicPr>
            <a:picLocks noChangeAspect="1"/>
          </p:cNvPicPr>
          <p:nvPr/>
        </p:nvPicPr>
        <p:blipFill>
          <a:blip r:embed="rId4"/>
          <a:stretch>
            <a:fillRect/>
          </a:stretch>
        </p:blipFill>
        <p:spPr>
          <a:xfrm>
            <a:off x="1430548" y="4530457"/>
            <a:ext cx="4908570" cy="1551713"/>
          </a:xfrm>
          <a:prstGeom prst="rect">
            <a:avLst/>
          </a:prstGeom>
          <a:effectLst>
            <a:outerShdw blurRad="63500" sx="102000" sy="102000" algn="ctr" rotWithShape="0">
              <a:prstClr val="black">
                <a:alpha val="40000"/>
              </a:prstClr>
            </a:outerShdw>
          </a:effectLst>
        </p:spPr>
      </p:pic>
      <p:sp>
        <p:nvSpPr>
          <p:cNvPr id="13" name="TextBox 12">
            <a:extLst>
              <a:ext uri="{FF2B5EF4-FFF2-40B4-BE49-F238E27FC236}">
                <a16:creationId xmlns:a16="http://schemas.microsoft.com/office/drawing/2014/main" id="{E03A3B32-0143-FE04-5A6C-67F0507C226D}"/>
              </a:ext>
            </a:extLst>
          </p:cNvPr>
          <p:cNvSpPr txBox="1"/>
          <p:nvPr/>
        </p:nvSpPr>
        <p:spPr>
          <a:xfrm>
            <a:off x="2366719" y="6099033"/>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5"/>
              </a:rPr>
              <a:t>Figure 12</a:t>
            </a:r>
            <a:endParaRPr lang="en-US" sz="1200" b="1" dirty="0">
              <a:latin typeface="Arial" panose="020B0604020202020204" pitchFamily="34" charset="0"/>
              <a:ea typeface="Roboto" panose="02000000000000000000" pitchFamily="2" charset="0"/>
              <a:cs typeface="Arial" panose="020B0604020202020204" pitchFamily="34" charset="0"/>
            </a:endParaRPr>
          </a:p>
        </p:txBody>
      </p:sp>
      <p:sp>
        <p:nvSpPr>
          <p:cNvPr id="20" name="TextBox 19">
            <a:extLst>
              <a:ext uri="{FF2B5EF4-FFF2-40B4-BE49-F238E27FC236}">
                <a16:creationId xmlns:a16="http://schemas.microsoft.com/office/drawing/2014/main" id="{A604BAF3-06C0-39C4-75CE-68D745286F9B}"/>
              </a:ext>
            </a:extLst>
          </p:cNvPr>
          <p:cNvSpPr txBox="1"/>
          <p:nvPr/>
        </p:nvSpPr>
        <p:spPr>
          <a:xfrm>
            <a:off x="2373797" y="8282731"/>
            <a:ext cx="3036228" cy="276999"/>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en-US" sz="1200" b="1" dirty="0">
                <a:latin typeface="Arial" panose="020B0604020202020204" pitchFamily="34" charset="0"/>
                <a:ea typeface="Roboto" panose="02000000000000000000" pitchFamily="2" charset="0"/>
                <a:cs typeface="Arial" panose="020B0604020202020204" pitchFamily="34" charset="0"/>
                <a:hlinkClick r:id="rId6"/>
              </a:rPr>
              <a:t>Figure 13</a:t>
            </a:r>
            <a:endParaRPr lang="en-US" sz="1200" b="1" dirty="0">
              <a:latin typeface="Arial" panose="020B0604020202020204" pitchFamily="34" charset="0"/>
              <a:ea typeface="Roboto" panose="02000000000000000000" pitchFamily="2" charset="0"/>
              <a:cs typeface="Arial" panose="020B0604020202020204" pitchFamily="34" charset="0"/>
            </a:endParaRPr>
          </a:p>
        </p:txBody>
      </p:sp>
      <p:pic>
        <p:nvPicPr>
          <p:cNvPr id="28" name="Picture 27">
            <a:extLst>
              <a:ext uri="{FF2B5EF4-FFF2-40B4-BE49-F238E27FC236}">
                <a16:creationId xmlns:a16="http://schemas.microsoft.com/office/drawing/2014/main" id="{1C6EC583-AC09-A978-88E4-A4F1CF8158D6}"/>
              </a:ext>
            </a:extLst>
          </p:cNvPr>
          <p:cNvPicPr>
            <a:picLocks noChangeAspect="1"/>
          </p:cNvPicPr>
          <p:nvPr/>
        </p:nvPicPr>
        <p:blipFill>
          <a:blip r:embed="rId7"/>
          <a:stretch>
            <a:fillRect/>
          </a:stretch>
        </p:blipFill>
        <p:spPr>
          <a:xfrm>
            <a:off x="978833" y="6566511"/>
            <a:ext cx="5826156" cy="1639259"/>
          </a:xfrm>
          <a:prstGeom prst="rect">
            <a:avLst/>
          </a:prstGeom>
          <a:effectLst>
            <a:outerShdw blurRad="63500" sx="102000" sy="102000" algn="ctr" rotWithShape="0">
              <a:prstClr val="black">
                <a:alpha val="40000"/>
              </a:prstClr>
            </a:outerShdw>
          </a:effectLst>
        </p:spPr>
      </p:pic>
      <p:sp>
        <p:nvSpPr>
          <p:cNvPr id="5" name="TextBox 2">
            <a:extLst>
              <a:ext uri="{FF2B5EF4-FFF2-40B4-BE49-F238E27FC236}">
                <a16:creationId xmlns:a16="http://schemas.microsoft.com/office/drawing/2014/main" id="{90C0201A-9008-2F2C-522D-8682B4C69BC0}"/>
              </a:ext>
            </a:extLst>
          </p:cNvPr>
          <p:cNvSpPr txBox="1"/>
          <p:nvPr/>
        </p:nvSpPr>
        <p:spPr>
          <a:xfrm>
            <a:off x="5459977" y="282677"/>
            <a:ext cx="2074161"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200" b="1" dirty="0">
                <a:latin typeface="Arial" panose="020B0604020202020204" pitchFamily="34" charset="0"/>
                <a:cs typeface="Arial" panose="020B0604020202020204" pitchFamily="34" charset="0"/>
              </a:rPr>
              <a:t>Threat Intelligence Report</a:t>
            </a:r>
          </a:p>
        </p:txBody>
      </p:sp>
    </p:spTree>
    <p:extLst>
      <p:ext uri="{BB962C8B-B14F-4D97-AF65-F5344CB8AC3E}">
        <p14:creationId xmlns:p14="http://schemas.microsoft.com/office/powerpoint/2010/main" val="3273272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7523841-D415-42D1-9986-FFE01C0A70F9}"/>
              </a:ext>
            </a:extLst>
          </p:cNvPr>
          <p:cNvSpPr/>
          <p:nvPr/>
        </p:nvSpPr>
        <p:spPr>
          <a:xfrm>
            <a:off x="159027" y="1036340"/>
            <a:ext cx="7474226" cy="1123384"/>
          </a:xfrm>
          <a:prstGeom prst="rect">
            <a:avLst/>
          </a:prstGeom>
          <a:ln>
            <a:solidFill>
              <a:schemeClr val="tx1"/>
            </a:solidFill>
          </a:ln>
        </p:spPr>
        <p:txBody>
          <a:bodyPr wrap="square">
            <a:spAutoFit/>
          </a:bodyPr>
          <a:lstStyle/>
          <a:p>
            <a:pPr>
              <a:spcBef>
                <a:spcPts val="1200"/>
              </a:spcBef>
              <a:spcAft>
                <a:spcPts val="600"/>
              </a:spcAft>
            </a:pPr>
            <a:r>
              <a:rPr lang="en-US" sz="1200" b="1" dirty="0">
                <a:solidFill>
                  <a:schemeClr val="tx1">
                    <a:lumMod val="65000"/>
                    <a:lumOff val="35000"/>
                  </a:schemeClr>
                </a:solidFill>
                <a:latin typeface="Arial" panose="020B0604020202020204" pitchFamily="34" charset="0"/>
                <a:cs typeface="Arial" panose="020B0604020202020204" pitchFamily="34" charset="0"/>
              </a:rPr>
              <a:t>Limitations of Open Source (OS) Information </a:t>
            </a:r>
          </a:p>
          <a:p>
            <a:r>
              <a:rPr lang="en-US" sz="1000" dirty="0">
                <a:solidFill>
                  <a:schemeClr val="bg1">
                    <a:lumMod val="50000"/>
                  </a:schemeClr>
                </a:solidFill>
              </a:rPr>
              <a:t>This report is based solely on publicly available open-source intelligence (OSINT). The information presented is subject to limitations inherent in open-source collection, including potential gaps in availability, completeness, and timeliness of data at the time of analysis. While efforts are made to ensure accuracy and relevance, some relevant information may not be publicly accessible or may not be captured during the collection process. As such, findings should be interpreted as analytical assessments based on available data rather than exhaustive or definitive intelligence.</a:t>
            </a:r>
            <a:endParaRPr lang="en-US" sz="1000" b="0" u="none" strike="noStrike" dirty="0">
              <a:solidFill>
                <a:schemeClr val="bg1">
                  <a:lumMod val="50000"/>
                </a:schemeClr>
              </a:solidFill>
              <a:effectLs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3299550D-CBED-4B26-A5B0-86E44E9CE4A2}"/>
              </a:ext>
            </a:extLst>
          </p:cNvPr>
          <p:cNvSpPr/>
          <p:nvPr/>
        </p:nvSpPr>
        <p:spPr>
          <a:xfrm>
            <a:off x="159027" y="2269278"/>
            <a:ext cx="7474226" cy="1123384"/>
          </a:xfrm>
          <a:prstGeom prst="rect">
            <a:avLst/>
          </a:prstGeom>
          <a:ln>
            <a:solidFill>
              <a:schemeClr val="tx1"/>
            </a:solid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ts val="1200"/>
              </a:spcBef>
              <a:spcAft>
                <a:spcPts val="600"/>
              </a:spcAft>
            </a:pPr>
            <a:r>
              <a:rPr lang="en-US" sz="1200" b="1" dirty="0">
                <a:solidFill>
                  <a:schemeClr val="tx1">
                    <a:lumMod val="65000"/>
                    <a:lumOff val="35000"/>
                  </a:schemeClr>
                </a:solidFill>
                <a:latin typeface="Arial" panose="020B0604020202020204" pitchFamily="34" charset="0"/>
                <a:cs typeface="Arial" panose="020B0604020202020204" pitchFamily="34" charset="0"/>
              </a:rPr>
              <a:t>Information Fair Use and Restrictions </a:t>
            </a:r>
          </a:p>
          <a:p>
            <a:pPr>
              <a:spcAft>
                <a:spcPts val="800"/>
              </a:spcAft>
            </a:pPr>
            <a:r>
              <a:rPr lang="en-US" sz="1000" dirty="0">
                <a:solidFill>
                  <a:schemeClr val="bg1">
                    <a:lumMod val="50000"/>
                  </a:schemeClr>
                </a:solidFill>
                <a:latin typeface="Arial" panose="020B0604020202020204" pitchFamily="34" charset="0"/>
                <a:cs typeface="Arial" panose="020B0604020202020204" pitchFamily="34" charset="0"/>
              </a:rPr>
              <a:t>This report is based solely on open-source intelligence (OSINT), including publicly accessible surface web, technical intelligence feeds, and openly available dark web sources used for security research and threat monitoring. All information is provided strictly for educational and portfolio demonstration purposes in the field of cyber threat intelligence and analytical research. Data collection is limited to publicly available sources only. No restricted, private, or unauthorized access methods were used. Users are expected to comply with all applicable laws and regulations governing the use of publicly available information.</a:t>
            </a:r>
          </a:p>
        </p:txBody>
      </p:sp>
      <p:sp>
        <p:nvSpPr>
          <p:cNvPr id="2" name="TextBox 1">
            <a:extLst>
              <a:ext uri="{FF2B5EF4-FFF2-40B4-BE49-F238E27FC236}">
                <a16:creationId xmlns:a16="http://schemas.microsoft.com/office/drawing/2014/main" id="{AB92F8A8-8777-8EF7-29B3-ECCCB5961E99}"/>
              </a:ext>
            </a:extLst>
          </p:cNvPr>
          <p:cNvSpPr txBox="1"/>
          <p:nvPr/>
        </p:nvSpPr>
        <p:spPr>
          <a:xfrm>
            <a:off x="457201" y="8913693"/>
            <a:ext cx="2661313" cy="246221"/>
          </a:xfrm>
          <a:prstGeom prst="rect">
            <a:avLst/>
          </a:prstGeom>
          <a:noFill/>
        </p:spPr>
        <p:txBody>
          <a:bodyPr wrap="square" lIns="0" rIns="0" rtlCol="0" anchor="ctr">
            <a:spAutoFit/>
          </a:bodyPr>
          <a:lstStyle/>
          <a:p>
            <a:pPr lvl="0">
              <a:defRPr/>
            </a:pPr>
            <a:r>
              <a:rPr lang="en-US" sz="1000" b="1" dirty="0">
                <a:solidFill>
                  <a:schemeClr val="tx1">
                    <a:lumMod val="65000"/>
                    <a:lumOff val="35000"/>
                  </a:schemeClr>
                </a:solidFill>
                <a:latin typeface="Arial" panose="020B0604020202020204" pitchFamily="34" charset="0"/>
                <a:ea typeface="Roboto" panose="02000000000000000000" pitchFamily="2" charset="0"/>
                <a:cs typeface="Arial" panose="020B0604020202020204" pitchFamily="34" charset="0"/>
              </a:rPr>
              <a:t>25APRIL2026</a:t>
            </a:r>
          </a:p>
        </p:txBody>
      </p:sp>
      <p:sp>
        <p:nvSpPr>
          <p:cNvPr id="6" name="Title 7">
            <a:extLst>
              <a:ext uri="{FF2B5EF4-FFF2-40B4-BE49-F238E27FC236}">
                <a16:creationId xmlns:a16="http://schemas.microsoft.com/office/drawing/2014/main" id="{136E08C6-8AFE-C7F8-9DDF-2C3934E1A4F7}"/>
              </a:ext>
            </a:extLst>
          </p:cNvPr>
          <p:cNvSpPr txBox="1">
            <a:spLocks/>
          </p:cNvSpPr>
          <p:nvPr/>
        </p:nvSpPr>
        <p:spPr>
          <a:xfrm>
            <a:off x="0" y="0"/>
            <a:ext cx="7772400" cy="825227"/>
          </a:xfrm>
          <a:prstGeom prst="rect">
            <a:avLst/>
          </a:prstGeom>
          <a:solidFill>
            <a:schemeClr val="bg1">
              <a:lumMod val="75000"/>
            </a:schemeClr>
          </a:solidFill>
          <a:ln>
            <a:noFill/>
          </a:ln>
          <a:effectLst>
            <a:outerShdw blurRad="50800" dist="38100" dir="5400000" algn="t" rotWithShape="0">
              <a:prstClr val="black">
                <a:alpha val="40000"/>
              </a:prstClr>
            </a:outerShdw>
          </a:effectLst>
        </p:spPr>
        <p:txBody>
          <a:bodyPr>
            <a:noAutofit/>
          </a:bodyPr>
          <a:lstStyle>
            <a:lvl1pPr algn="l" defTabSz="777240" rtl="0" eaLnBrk="1" latinLnBrk="0" hangingPunct="1">
              <a:lnSpc>
                <a:spcPct val="90000"/>
              </a:lnSpc>
              <a:spcBef>
                <a:spcPct val="0"/>
              </a:spcBef>
              <a:buNone/>
              <a:defRPr sz="3740" kern="1200">
                <a:solidFill>
                  <a:schemeClr val="tx1"/>
                </a:solidFill>
                <a:latin typeface="Arial" panose="020B0604020202020204" pitchFamily="34" charset="0"/>
                <a:ea typeface="+mj-ea"/>
                <a:cs typeface="Arial" panose="020B0604020202020204" pitchFamily="34" charset="0"/>
              </a:defRPr>
            </a:lvl1pPr>
          </a:lstStyle>
          <a:p>
            <a:endParaRPr lang="en-US" sz="2400" b="1" dirty="0">
              <a:solidFill>
                <a:srgbClr val="4666EF"/>
              </a:solidFill>
            </a:endParaRPr>
          </a:p>
          <a:p>
            <a:endParaRPr lang="en-US" sz="2400" b="1" dirty="0">
              <a:solidFill>
                <a:srgbClr val="4666EF"/>
              </a:solidFill>
            </a:endParaRPr>
          </a:p>
        </p:txBody>
      </p:sp>
      <p:sp>
        <p:nvSpPr>
          <p:cNvPr id="8" name="TextBox 7">
            <a:extLst>
              <a:ext uri="{FF2B5EF4-FFF2-40B4-BE49-F238E27FC236}">
                <a16:creationId xmlns:a16="http://schemas.microsoft.com/office/drawing/2014/main" id="{05ACCA75-2970-D26C-14CE-7D412DF14675}"/>
              </a:ext>
            </a:extLst>
          </p:cNvPr>
          <p:cNvSpPr txBox="1"/>
          <p:nvPr/>
        </p:nvSpPr>
        <p:spPr>
          <a:xfrm>
            <a:off x="196849" y="300371"/>
            <a:ext cx="1563968" cy="276999"/>
          </a:xfrm>
          <a:prstGeom prst="rect">
            <a:avLst/>
          </a:prstGeom>
          <a:noFill/>
        </p:spPr>
        <p:txBody>
          <a:bodyPr wrap="square" rtlCol="0">
            <a:spAutoFit/>
          </a:bodyPr>
          <a:lstStyle/>
          <a:p>
            <a:pPr algn="l"/>
            <a:r>
              <a:rPr lang="en-US" sz="1200" b="1" dirty="0">
                <a:latin typeface="Arial" panose="020B0604020202020204" pitchFamily="34" charset="0"/>
                <a:cs typeface="Arial" panose="020B0604020202020204" pitchFamily="34" charset="0"/>
              </a:rPr>
              <a:t>Lazarus Group</a:t>
            </a:r>
          </a:p>
        </p:txBody>
      </p:sp>
      <p:sp>
        <p:nvSpPr>
          <p:cNvPr id="12" name="TextBox 11">
            <a:extLst>
              <a:ext uri="{FF2B5EF4-FFF2-40B4-BE49-F238E27FC236}">
                <a16:creationId xmlns:a16="http://schemas.microsoft.com/office/drawing/2014/main" id="{70F4C8DB-836E-C7A8-7B39-F74CA3812BB2}"/>
              </a:ext>
            </a:extLst>
          </p:cNvPr>
          <p:cNvSpPr txBox="1"/>
          <p:nvPr/>
        </p:nvSpPr>
        <p:spPr>
          <a:xfrm>
            <a:off x="457200" y="9201528"/>
            <a:ext cx="6858000" cy="461665"/>
          </a:xfrm>
          <a:prstGeom prst="rect">
            <a:avLst/>
          </a:prstGeom>
          <a:noFill/>
        </p:spPr>
        <p:txBody>
          <a:bodyPr wrap="square" lIns="0" rIns="0" rtlCol="0">
            <a:spAutoFit/>
          </a:bodyPr>
          <a:lstStyle/>
          <a:p>
            <a:pPr algn="just"/>
            <a:r>
              <a:rPr lang="en-US" sz="800" i="0" dirty="0">
                <a:latin typeface="Roboto" panose="02000000000000000000" pitchFamily="2" charset="0"/>
                <a:ea typeface="Roboto" panose="02000000000000000000" pitchFamily="2" charset="0"/>
                <a:cs typeface="Arial" panose="020B0604020202020204" pitchFamily="34" charset="0"/>
              </a:rPr>
              <a:t>This document is intended for educational and portfolio purposes only. All information presented is derived from publicly available open-source intelligence (OSINT) sources, including surface web, technical intelligence feeds, and publicly accessible dark web resources used for security research and threat monitoring. No unauthorized access to private systems or non-public data was used in the creation of this report.</a:t>
            </a:r>
            <a:endParaRPr lang="en-US" sz="1000" i="0" dirty="0">
              <a:latin typeface="Roboto" panose="02000000000000000000" pitchFamily="2" charset="0"/>
              <a:ea typeface="Roboto" panose="02000000000000000000" pitchFamily="2" charset="0"/>
              <a:cs typeface="Arial" panose="020B0604020202020204" pitchFamily="34" charset="0"/>
            </a:endParaRPr>
          </a:p>
        </p:txBody>
      </p:sp>
      <p:sp>
        <p:nvSpPr>
          <p:cNvPr id="13" name="TextBox 12">
            <a:extLst>
              <a:ext uri="{FF2B5EF4-FFF2-40B4-BE49-F238E27FC236}">
                <a16:creationId xmlns:a16="http://schemas.microsoft.com/office/drawing/2014/main" id="{3079118A-3FFA-6C51-7DAD-CA379A4E4845}"/>
              </a:ext>
            </a:extLst>
          </p:cNvPr>
          <p:cNvSpPr txBox="1"/>
          <p:nvPr/>
        </p:nvSpPr>
        <p:spPr>
          <a:xfrm>
            <a:off x="5321299" y="8913692"/>
            <a:ext cx="1993900" cy="246221"/>
          </a:xfrm>
          <a:prstGeom prst="rect">
            <a:avLst/>
          </a:prstGeom>
          <a:noFill/>
        </p:spPr>
        <p:txBody>
          <a:bodyPr wrap="square" lIns="0" rIns="0" rtlCol="0" anchor="ctr">
            <a:spAutoFit/>
          </a:bodyPr>
          <a:lstStyle/>
          <a:p>
            <a:pPr lvl="0" algn="r">
              <a:defRPr/>
            </a:pP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 </a:t>
            </a:r>
            <a:r>
              <a:rPr lang="en-US" sz="1000" b="1" dirty="0">
                <a:solidFill>
                  <a:schemeClr val="tx1">
                    <a:lumMod val="65000"/>
                    <a:lumOff val="35000"/>
                  </a:schemeClr>
                </a:solidFill>
                <a:latin typeface="Roboto" panose="02000000000000000000" pitchFamily="2" charset="0"/>
                <a:ea typeface="Roboto" panose="02000000000000000000" pitchFamily="2" charset="0"/>
                <a:cs typeface="Arial" panose="020B0604020202020204" pitchFamily="34" charset="0"/>
              </a:rPr>
              <a:t>Portfolio: github.com/dalhunter </a:t>
            </a:r>
            <a:r>
              <a:rPr lang="en-US" sz="1000" b="1" dirty="0">
                <a:solidFill>
                  <a:schemeClr val="tx2">
                    <a:lumMod val="60000"/>
                    <a:lumOff val="40000"/>
                  </a:schemeClr>
                </a:solidFill>
                <a:latin typeface="Roboto" panose="02000000000000000000" pitchFamily="2" charset="0"/>
                <a:ea typeface="Roboto" panose="02000000000000000000" pitchFamily="2" charset="0"/>
                <a:cs typeface="Arial" panose="020B0604020202020204" pitchFamily="34" charset="0"/>
              </a:rPr>
              <a:t>|</a:t>
            </a:r>
            <a:endParaRPr lang="en-US" sz="1000" b="1" dirty="0">
              <a:solidFill>
                <a:schemeClr val="tx2"/>
              </a:solidFill>
              <a:latin typeface="Roboto" panose="02000000000000000000" pitchFamily="2" charset="0"/>
              <a:ea typeface="Roboto" panose="02000000000000000000" pitchFamily="2" charset="0"/>
              <a:cs typeface="Arial" panose="020B0604020202020204" pitchFamily="34" charset="0"/>
            </a:endParaRPr>
          </a:p>
        </p:txBody>
      </p:sp>
      <p:sp>
        <p:nvSpPr>
          <p:cNvPr id="3" name="TextBox 2">
            <a:extLst>
              <a:ext uri="{FF2B5EF4-FFF2-40B4-BE49-F238E27FC236}">
                <a16:creationId xmlns:a16="http://schemas.microsoft.com/office/drawing/2014/main" id="{158776D1-BEAD-1319-911F-1444480FAF48}"/>
              </a:ext>
            </a:extLst>
          </p:cNvPr>
          <p:cNvSpPr txBox="1"/>
          <p:nvPr/>
        </p:nvSpPr>
        <p:spPr>
          <a:xfrm>
            <a:off x="5459977" y="282677"/>
            <a:ext cx="2074161" cy="27699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1200" b="1" dirty="0">
                <a:latin typeface="Arial" panose="020B0604020202020204" pitchFamily="34" charset="0"/>
                <a:cs typeface="Arial" panose="020B0604020202020204" pitchFamily="34" charset="0"/>
              </a:rPr>
              <a:t>Threat Intelligence Report</a:t>
            </a:r>
          </a:p>
        </p:txBody>
      </p:sp>
    </p:spTree>
    <p:extLst>
      <p:ext uri="{BB962C8B-B14F-4D97-AF65-F5344CB8AC3E}">
        <p14:creationId xmlns:p14="http://schemas.microsoft.com/office/powerpoint/2010/main" val="233269870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0F1E9F4AF120346B00093215C75341D" ma:contentTypeVersion="7" ma:contentTypeDescription="Create a new document." ma:contentTypeScope="" ma:versionID="6d3dde0243cdc21878d6246060622abc">
  <xsd:schema xmlns:xsd="http://www.w3.org/2001/XMLSchema" xmlns:xs="http://www.w3.org/2001/XMLSchema" xmlns:p="http://schemas.microsoft.com/office/2006/metadata/properties" xmlns:ns3="01269402-7b65-4438-b3b9-4078ffba1ec1" xmlns:ns4="6f1ec714-84ee-4b33-845c-2adff5d59dcb" targetNamespace="http://schemas.microsoft.com/office/2006/metadata/properties" ma:root="true" ma:fieldsID="60de6085030b4e5271b26b71cc0c1eae" ns3:_="" ns4:_="">
    <xsd:import namespace="01269402-7b65-4438-b3b9-4078ffba1ec1"/>
    <xsd:import namespace="6f1ec714-84ee-4b33-845c-2adff5d59dc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269402-7b65-4438-b3b9-4078ffba1ec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f1ec714-84ee-4b33-845c-2adff5d59dc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44ECC5A-2CD3-4919-8070-CB06223D1DE9}">
  <ds:schemaRefs>
    <ds:schemaRef ds:uri="http://schemas.microsoft.com/office/infopath/2007/PartnerControls"/>
    <ds:schemaRef ds:uri="http://purl.org/dc/elements/1.1/"/>
    <ds:schemaRef ds:uri="http://schemas.microsoft.com/office/2006/documentManagement/types"/>
    <ds:schemaRef ds:uri="http://purl.org/dc/terms/"/>
    <ds:schemaRef ds:uri="http://schemas.microsoft.com/office/2006/metadata/properties"/>
    <ds:schemaRef ds:uri="http://purl.org/dc/dcmitype/"/>
    <ds:schemaRef ds:uri="01269402-7b65-4438-b3b9-4078ffba1ec1"/>
    <ds:schemaRef ds:uri="http://www.w3.org/XML/1998/namespace"/>
    <ds:schemaRef ds:uri="http://schemas.openxmlformats.org/package/2006/metadata/core-properties"/>
    <ds:schemaRef ds:uri="6f1ec714-84ee-4b33-845c-2adff5d59dcb"/>
  </ds:schemaRefs>
</ds:datastoreItem>
</file>

<file path=customXml/itemProps2.xml><?xml version="1.0" encoding="utf-8"?>
<ds:datastoreItem xmlns:ds="http://schemas.openxmlformats.org/officeDocument/2006/customXml" ds:itemID="{1887C731-70C2-4013-AF25-AB320DAC13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1269402-7b65-4438-b3b9-4078ffba1ec1"/>
    <ds:schemaRef ds:uri="6f1ec714-84ee-4b33-845c-2adff5d59dc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4B3F371-E1F2-418F-AE12-1987C249C5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Organic</Template>
  <TotalTime>78894</TotalTime>
  <Words>2093</Words>
  <Application>Microsoft Office PowerPoint</Application>
  <PresentationFormat>Custom</PresentationFormat>
  <Paragraphs>152</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Roboto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Background Check</dc:title>
  <dc:creator>Edgeworth Security, Cyber Operations Division</dc:creator>
  <cp:lastModifiedBy>Dalton Hunter</cp:lastModifiedBy>
  <cp:revision>519</cp:revision>
  <dcterms:created xsi:type="dcterms:W3CDTF">2018-04-26T18:53:23Z</dcterms:created>
  <dcterms:modified xsi:type="dcterms:W3CDTF">2026-05-06T20:08:57Z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0x010100F0F1E9F4AF120346B00093215C75341D</vt:lpwstr>
  </property>
</Properties>
</file>